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>
      <p:cViewPr varScale="1">
        <p:scale>
          <a:sx n="108" d="100"/>
          <a:sy n="108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ackground">
            <a:extLst>
              <a:ext uri="{FF2B5EF4-FFF2-40B4-BE49-F238E27FC236}">
                <a16:creationId xmlns:a16="http://schemas.microsoft.com/office/drawing/2014/main" id="{855A7E8A-CAC5-4A34-9391-FBBB35504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_v_0">
            <a:extLst>
              <a:ext uri="{FF2B5EF4-FFF2-40B4-BE49-F238E27FC236}">
                <a16:creationId xmlns:a16="http://schemas.microsoft.com/office/drawing/2014/main" id="{50B89E0D-9895-4E45-B492-F7FCFBB8D347}"/>
              </a:ext>
            </a:extLst>
          </p:cNvPr>
          <p:cNvSpPr>
            <a:spLocks noGrp="1"/>
          </p:cNvSpPr>
          <p:nvPr/>
        </p:nvSpPr>
        <p:spPr>
          <a:xfrm>
            <a:off x="1047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grid_v_1">
            <a:extLst>
              <a:ext uri="{FF2B5EF4-FFF2-40B4-BE49-F238E27FC236}">
                <a16:creationId xmlns:a16="http://schemas.microsoft.com/office/drawing/2014/main" id="{80A41ACD-B9E4-4A3A-AB11-5B7B8BE6CD3F}"/>
              </a:ext>
            </a:extLst>
          </p:cNvPr>
          <p:cNvSpPr>
            <a:spLocks noGrp="1"/>
          </p:cNvSpPr>
          <p:nvPr/>
        </p:nvSpPr>
        <p:spPr>
          <a:xfrm>
            <a:off x="2667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grid_v_2">
            <a:extLst>
              <a:ext uri="{FF2B5EF4-FFF2-40B4-BE49-F238E27FC236}">
                <a16:creationId xmlns:a16="http://schemas.microsoft.com/office/drawing/2014/main" id="{69B6938D-92CE-4FA8-B4E1-6765FAE2B2ED}"/>
              </a:ext>
            </a:extLst>
          </p:cNvPr>
          <p:cNvSpPr>
            <a:spLocks noGrp="1"/>
          </p:cNvSpPr>
          <p:nvPr/>
        </p:nvSpPr>
        <p:spPr>
          <a:xfrm>
            <a:off x="4286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grid_v_3">
            <a:extLst>
              <a:ext uri="{FF2B5EF4-FFF2-40B4-BE49-F238E27FC236}">
                <a16:creationId xmlns:a16="http://schemas.microsoft.com/office/drawing/2014/main" id="{1A956949-44C9-4D01-A9CB-E0FA6B3DB680}"/>
              </a:ext>
            </a:extLst>
          </p:cNvPr>
          <p:cNvSpPr>
            <a:spLocks noGrp="1"/>
          </p:cNvSpPr>
          <p:nvPr/>
        </p:nvSpPr>
        <p:spPr>
          <a:xfrm>
            <a:off x="59055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grid_v_4">
            <a:extLst>
              <a:ext uri="{FF2B5EF4-FFF2-40B4-BE49-F238E27FC236}">
                <a16:creationId xmlns:a16="http://schemas.microsoft.com/office/drawing/2014/main" id="{CC577104-8E1A-419C-B54E-B24D8A6780D2}"/>
              </a:ext>
            </a:extLst>
          </p:cNvPr>
          <p:cNvSpPr>
            <a:spLocks noGrp="1"/>
          </p:cNvSpPr>
          <p:nvPr/>
        </p:nvSpPr>
        <p:spPr>
          <a:xfrm>
            <a:off x="7524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grid_v_5">
            <a:extLst>
              <a:ext uri="{FF2B5EF4-FFF2-40B4-BE49-F238E27FC236}">
                <a16:creationId xmlns:a16="http://schemas.microsoft.com/office/drawing/2014/main" id="{C6F27E58-E63B-4719-8AD5-67C673B15B06}"/>
              </a:ext>
            </a:extLst>
          </p:cNvPr>
          <p:cNvSpPr>
            <a:spLocks noGrp="1"/>
          </p:cNvSpPr>
          <p:nvPr/>
        </p:nvSpPr>
        <p:spPr>
          <a:xfrm>
            <a:off x="9144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grid_v_6">
            <a:extLst>
              <a:ext uri="{FF2B5EF4-FFF2-40B4-BE49-F238E27FC236}">
                <a16:creationId xmlns:a16="http://schemas.microsoft.com/office/drawing/2014/main" id="{D584A2E8-0992-4EA2-86B2-F21FE6D158B3}"/>
              </a:ext>
            </a:extLst>
          </p:cNvPr>
          <p:cNvSpPr>
            <a:spLocks noGrp="1"/>
          </p:cNvSpPr>
          <p:nvPr/>
        </p:nvSpPr>
        <p:spPr>
          <a:xfrm>
            <a:off x="10763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ignal_bar">
            <a:extLst>
              <a:ext uri="{FF2B5EF4-FFF2-40B4-BE49-F238E27FC236}">
                <a16:creationId xmlns:a16="http://schemas.microsoft.com/office/drawing/2014/main" id="{ACD284A4-F986-44BB-8C91-5AA742E4D93C}"/>
              </a:ext>
            </a:extLst>
          </p:cNvPr>
          <p:cNvSpPr>
            <a:spLocks noGrp="1"/>
          </p:cNvSpPr>
          <p:nvPr/>
        </p:nvSpPr>
        <p:spPr>
          <a:xfrm>
            <a:off x="914400" y="5962650"/>
            <a:ext cx="2333625" cy="47625"/>
          </a:xfrm>
          <a:prstGeom prst="roundRect">
            <a:avLst>
              <a:gd name="adj" fmla="val 50000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ignal_tail">
            <a:extLst>
              <a:ext uri="{FF2B5EF4-FFF2-40B4-BE49-F238E27FC236}">
                <a16:creationId xmlns:a16="http://schemas.microsoft.com/office/drawing/2014/main" id="{C7075893-5BD3-4717-91D3-BA7DD650E684}"/>
              </a:ext>
            </a:extLst>
          </p:cNvPr>
          <p:cNvSpPr>
            <a:spLocks noGrp="1"/>
          </p:cNvSpPr>
          <p:nvPr/>
        </p:nvSpPr>
        <p:spPr>
          <a:xfrm>
            <a:off x="3343275" y="5981700"/>
            <a:ext cx="55245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eyebrow">
            <a:extLst>
              <a:ext uri="{FF2B5EF4-FFF2-40B4-BE49-F238E27FC236}">
                <a16:creationId xmlns:a16="http://schemas.microsoft.com/office/drawing/2014/main" id="{E922F398-5870-4B99-AF87-9D012F2204F0}"/>
              </a:ext>
            </a:extLst>
          </p:cNvPr>
          <p:cNvSpPr>
            <a:spLocks noGrp="1"/>
          </p:cNvSpPr>
          <p:nvPr/>
        </p:nvSpPr>
        <p:spPr>
          <a:xfrm>
            <a:off x="914400" y="666750"/>
            <a:ext cx="495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A股一周表现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559C12DE-82FE-463F-9CB0-D6BCA3BF832F}"/>
              </a:ext>
            </a:extLst>
          </p:cNvPr>
          <p:cNvSpPr>
            <a:spLocks noGrp="1"/>
          </p:cNvSpPr>
          <p:nvPr/>
        </p:nvSpPr>
        <p:spPr>
          <a:xfrm>
            <a:off x="914400" y="1219200"/>
            <a:ext cx="342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重新站上</a:t>
            </a:r>
          </a:p>
        </p:txBody>
      </p:sp>
      <p:sp>
        <p:nvSpPr>
          <p:cNvPr id="13" name="hero_number">
            <a:extLst>
              <a:ext uri="{FF2B5EF4-FFF2-40B4-BE49-F238E27FC236}">
                <a16:creationId xmlns:a16="http://schemas.microsoft.com/office/drawing/2014/main" id="{B80723C9-92BB-42FA-9107-E9C578563841}"/>
              </a:ext>
            </a:extLst>
          </p:cNvPr>
          <p:cNvSpPr>
            <a:spLocks noGrp="1"/>
          </p:cNvSpPr>
          <p:nvPr/>
        </p:nvSpPr>
        <p:spPr>
          <a:xfrm>
            <a:off x="914400" y="1943100"/>
            <a:ext cx="5524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88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4000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5A5C39CB-2BF5-420E-B23E-94586EDCBE32}"/>
              </a:ext>
            </a:extLst>
          </p:cNvPr>
          <p:cNvSpPr>
            <a:spLocks noGrp="1"/>
          </p:cNvSpPr>
          <p:nvPr/>
        </p:nvSpPr>
        <p:spPr>
          <a:xfrm>
            <a:off x="952500" y="337185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但近5个交易日仍在修复区间内</a:t>
            </a:r>
          </a:p>
        </p:txBody>
      </p:sp>
      <p:sp>
        <p:nvSpPr>
          <p:cNvPr id="15" name="divider">
            <a:extLst>
              <a:ext uri="{FF2B5EF4-FFF2-40B4-BE49-F238E27FC236}">
                <a16:creationId xmlns:a16="http://schemas.microsoft.com/office/drawing/2014/main" id="{44FDC573-F9E7-4C67-81D7-1A456AFCF23F}"/>
              </a:ext>
            </a:extLst>
          </p:cNvPr>
          <p:cNvSpPr>
            <a:spLocks noGrp="1"/>
          </p:cNvSpPr>
          <p:nvPr/>
        </p:nvSpPr>
        <p:spPr>
          <a:xfrm>
            <a:off x="7639050" y="914400"/>
            <a:ext cx="9525" cy="4762500"/>
          </a:xfrm>
          <a:prstGeom prst="rect">
            <a:avLst/>
          </a:prstGeom>
          <a:solidFill>
            <a:srgbClr val="FFFFFF">
              <a:alpha val="1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date_number">
            <a:extLst>
              <a:ext uri="{FF2B5EF4-FFF2-40B4-BE49-F238E27FC236}">
                <a16:creationId xmlns:a16="http://schemas.microsoft.com/office/drawing/2014/main" id="{55D12B0C-076B-4583-8659-95CB04282E00}"/>
              </a:ext>
            </a:extLst>
          </p:cNvPr>
          <p:cNvSpPr>
            <a:spLocks noGrp="1"/>
          </p:cNvSpPr>
          <p:nvPr/>
        </p:nvSpPr>
        <p:spPr>
          <a:xfrm>
            <a:off x="8096250" y="89535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06.09</a:t>
            </a:r>
          </a:p>
        </p:txBody>
      </p:sp>
      <p:sp>
        <p:nvSpPr>
          <p:cNvPr id="17" name="date_label">
            <a:extLst>
              <a:ext uri="{FF2B5EF4-FFF2-40B4-BE49-F238E27FC236}">
                <a16:creationId xmlns:a16="http://schemas.microsoft.com/office/drawing/2014/main" id="{9A0F114B-6840-4475-BC37-D7DDFEB8C9B6}"/>
              </a:ext>
            </a:extLst>
          </p:cNvPr>
          <p:cNvSpPr>
            <a:spLocks noGrp="1"/>
          </p:cNvSpPr>
          <p:nvPr/>
        </p:nvSpPr>
        <p:spPr>
          <a:xfrm>
            <a:off x="8134350" y="15049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收盘快照</a:t>
            </a:r>
          </a:p>
        </p:txBody>
      </p:sp>
      <p:sp>
        <p:nvSpPr>
          <p:cNvPr id="18" name="metric_name_0">
            <a:extLst>
              <a:ext uri="{FF2B5EF4-FFF2-40B4-BE49-F238E27FC236}">
                <a16:creationId xmlns:a16="http://schemas.microsoft.com/office/drawing/2014/main" id="{946E23CA-9FE7-4125-9CD6-A0F9650264C5}"/>
              </a:ext>
            </a:extLst>
          </p:cNvPr>
          <p:cNvSpPr>
            <a:spLocks noGrp="1"/>
          </p:cNvSpPr>
          <p:nvPr/>
        </p:nvSpPr>
        <p:spPr>
          <a:xfrm>
            <a:off x="8096250" y="21336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上证指数</a:t>
            </a:r>
          </a:p>
        </p:txBody>
      </p:sp>
      <p:sp>
        <p:nvSpPr>
          <p:cNvPr id="19" name="metric_value_0">
            <a:extLst>
              <a:ext uri="{FF2B5EF4-FFF2-40B4-BE49-F238E27FC236}">
                <a16:creationId xmlns:a16="http://schemas.microsoft.com/office/drawing/2014/main" id="{E990E204-513C-4DF9-A2BF-750056C90BE9}"/>
              </a:ext>
            </a:extLst>
          </p:cNvPr>
          <p:cNvSpPr>
            <a:spLocks noGrp="1"/>
          </p:cNvSpPr>
          <p:nvPr/>
        </p:nvSpPr>
        <p:spPr>
          <a:xfrm>
            <a:off x="8096250" y="2371725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4010.03</a:t>
            </a:r>
          </a:p>
        </p:txBody>
      </p:sp>
      <p:sp>
        <p:nvSpPr>
          <p:cNvPr id="20" name="metric_pct_0">
            <a:extLst>
              <a:ext uri="{FF2B5EF4-FFF2-40B4-BE49-F238E27FC236}">
                <a16:creationId xmlns:a16="http://schemas.microsoft.com/office/drawing/2014/main" id="{C683164E-61DE-4FCC-A039-983D73F7A0A0}"/>
              </a:ext>
            </a:extLst>
          </p:cNvPr>
          <p:cNvSpPr>
            <a:spLocks noGrp="1"/>
          </p:cNvSpPr>
          <p:nvPr/>
        </p:nvSpPr>
        <p:spPr>
          <a:xfrm>
            <a:off x="10287000" y="2409825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+1.28%</a:t>
            </a:r>
          </a:p>
        </p:txBody>
      </p:sp>
      <p:sp>
        <p:nvSpPr>
          <p:cNvPr id="21" name="metric_name_1">
            <a:extLst>
              <a:ext uri="{FF2B5EF4-FFF2-40B4-BE49-F238E27FC236}">
                <a16:creationId xmlns:a16="http://schemas.microsoft.com/office/drawing/2014/main" id="{70A48865-CFA5-411D-AD26-68F0E09EB99F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深证成指</a:t>
            </a:r>
          </a:p>
        </p:txBody>
      </p:sp>
      <p:sp>
        <p:nvSpPr>
          <p:cNvPr id="22" name="metric_value_1">
            <a:extLst>
              <a:ext uri="{FF2B5EF4-FFF2-40B4-BE49-F238E27FC236}">
                <a16:creationId xmlns:a16="http://schemas.microsoft.com/office/drawing/2014/main" id="{9F01B35A-3E28-44BC-A818-D4ACB1CEF80B}"/>
              </a:ext>
            </a:extLst>
          </p:cNvPr>
          <p:cNvSpPr>
            <a:spLocks noGrp="1"/>
          </p:cNvSpPr>
          <p:nvPr/>
        </p:nvSpPr>
        <p:spPr>
          <a:xfrm>
            <a:off x="8096250" y="3095625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15268.71</a:t>
            </a:r>
          </a:p>
        </p:txBody>
      </p:sp>
      <p:sp>
        <p:nvSpPr>
          <p:cNvPr id="23" name="metric_pct_1">
            <a:extLst>
              <a:ext uri="{FF2B5EF4-FFF2-40B4-BE49-F238E27FC236}">
                <a16:creationId xmlns:a16="http://schemas.microsoft.com/office/drawing/2014/main" id="{C635B2E2-458C-4A0D-B17E-1F8126C16C18}"/>
              </a:ext>
            </a:extLst>
          </p:cNvPr>
          <p:cNvSpPr>
            <a:spLocks noGrp="1"/>
          </p:cNvSpPr>
          <p:nvPr/>
        </p:nvSpPr>
        <p:spPr>
          <a:xfrm>
            <a:off x="10287000" y="3133725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+3.02%</a:t>
            </a:r>
          </a:p>
        </p:txBody>
      </p:sp>
      <p:sp>
        <p:nvSpPr>
          <p:cNvPr id="24" name="metric_name_2">
            <a:extLst>
              <a:ext uri="{FF2B5EF4-FFF2-40B4-BE49-F238E27FC236}">
                <a16:creationId xmlns:a16="http://schemas.microsoft.com/office/drawing/2014/main" id="{7DC614CC-E5CC-4913-A210-00AC306A73BA}"/>
              </a:ext>
            </a:extLst>
          </p:cNvPr>
          <p:cNvSpPr>
            <a:spLocks noGrp="1"/>
          </p:cNvSpPr>
          <p:nvPr/>
        </p:nvSpPr>
        <p:spPr>
          <a:xfrm>
            <a:off x="8096250" y="35814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创业板指</a:t>
            </a:r>
          </a:p>
        </p:txBody>
      </p:sp>
      <p:sp>
        <p:nvSpPr>
          <p:cNvPr id="25" name="metric_value_2">
            <a:extLst>
              <a:ext uri="{FF2B5EF4-FFF2-40B4-BE49-F238E27FC236}">
                <a16:creationId xmlns:a16="http://schemas.microsoft.com/office/drawing/2014/main" id="{4183AEAC-3C3F-4E1C-A167-D56C295EC469}"/>
              </a:ext>
            </a:extLst>
          </p:cNvPr>
          <p:cNvSpPr>
            <a:spLocks noGrp="1"/>
          </p:cNvSpPr>
          <p:nvPr/>
        </p:nvSpPr>
        <p:spPr>
          <a:xfrm>
            <a:off x="8096250" y="3819525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3961.75</a:t>
            </a:r>
          </a:p>
        </p:txBody>
      </p:sp>
      <p:sp>
        <p:nvSpPr>
          <p:cNvPr id="26" name="metric_pct_2">
            <a:extLst>
              <a:ext uri="{FF2B5EF4-FFF2-40B4-BE49-F238E27FC236}">
                <a16:creationId xmlns:a16="http://schemas.microsoft.com/office/drawing/2014/main" id="{C96C4EC2-425C-419B-AAA0-D6E1E333193E}"/>
              </a:ext>
            </a:extLst>
          </p:cNvPr>
          <p:cNvSpPr>
            <a:spLocks noGrp="1"/>
          </p:cNvSpPr>
          <p:nvPr/>
        </p:nvSpPr>
        <p:spPr>
          <a:xfrm>
            <a:off x="10287000" y="3857625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+3.93%</a:t>
            </a:r>
          </a:p>
        </p:txBody>
      </p:sp>
      <p:sp>
        <p:nvSpPr>
          <p:cNvPr id="27" name="metric_name_3">
            <a:extLst>
              <a:ext uri="{FF2B5EF4-FFF2-40B4-BE49-F238E27FC236}">
                <a16:creationId xmlns:a16="http://schemas.microsoft.com/office/drawing/2014/main" id="{D11E75EF-6EA8-4B51-91C6-6A7622E29533}"/>
              </a:ext>
            </a:extLst>
          </p:cNvPr>
          <p:cNvSpPr>
            <a:spLocks noGrp="1"/>
          </p:cNvSpPr>
          <p:nvPr/>
        </p:nvSpPr>
        <p:spPr>
          <a:xfrm>
            <a:off x="8096250" y="4305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科创50</a:t>
            </a:r>
          </a:p>
        </p:txBody>
      </p:sp>
      <p:sp>
        <p:nvSpPr>
          <p:cNvPr id="28" name="metric_value_3">
            <a:extLst>
              <a:ext uri="{FF2B5EF4-FFF2-40B4-BE49-F238E27FC236}">
                <a16:creationId xmlns:a16="http://schemas.microsoft.com/office/drawing/2014/main" id="{F2F3C9DF-27C7-4EFE-872A-C4F19CF5C129}"/>
              </a:ext>
            </a:extLst>
          </p:cNvPr>
          <p:cNvSpPr>
            <a:spLocks noGrp="1"/>
          </p:cNvSpPr>
          <p:nvPr/>
        </p:nvSpPr>
        <p:spPr>
          <a:xfrm>
            <a:off x="8096250" y="4543425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1106.06</a:t>
            </a:r>
          </a:p>
        </p:txBody>
      </p:sp>
      <p:sp>
        <p:nvSpPr>
          <p:cNvPr id="29" name="metric_pct_3">
            <a:extLst>
              <a:ext uri="{FF2B5EF4-FFF2-40B4-BE49-F238E27FC236}">
                <a16:creationId xmlns:a16="http://schemas.microsoft.com/office/drawing/2014/main" id="{F946DAF8-96AA-4259-B475-6350D06FADC0}"/>
              </a:ext>
            </a:extLst>
          </p:cNvPr>
          <p:cNvSpPr>
            <a:spLocks noGrp="1"/>
          </p:cNvSpPr>
          <p:nvPr/>
        </p:nvSpPr>
        <p:spPr>
          <a:xfrm>
            <a:off x="10287000" y="4581525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+4.17%</a:t>
            </a:r>
          </a:p>
        </p:txBody>
      </p:sp>
      <p:sp>
        <p:nvSpPr>
          <p:cNvPr id="30" name="pill_week">
            <a:extLst>
              <a:ext uri="{FF2B5EF4-FFF2-40B4-BE49-F238E27FC236}">
                <a16:creationId xmlns:a16="http://schemas.microsoft.com/office/drawing/2014/main" id="{E8AE49B9-D3B3-4C53-BDB7-62895D20DEE1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30D158">
              <a:alpha val="9412"/>
            </a:srgbClr>
          </a:solidFill>
          <a:ln w="9525">
            <a:solidFill>
              <a:srgbClr val="30D158">
                <a:alpha val="15686"/>
              </a:srgbClr>
            </a:solidFill>
            <a:prstDash val="solid"/>
          </a:ln>
        </p:spPr>
      </p:sp>
      <p:sp>
        <p:nvSpPr>
          <p:cNvPr id="31" name="pill_week_txt">
            <a:extLst>
              <a:ext uri="{FF2B5EF4-FFF2-40B4-BE49-F238E27FC236}">
                <a16:creationId xmlns:a16="http://schemas.microsoft.com/office/drawing/2014/main" id="{EB1F829C-851A-4E44-ABBC-21A19B9FD056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1543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0D15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0D158"/>
                </a:solidFill>
                <a:latin typeface="PingFang SC"/>
                <a:ea typeface="PingFang SC"/>
                <a:cs typeface="PingFang SC"/>
              </a:rPr>
              <a:t>近5日上证 -1.60%</a:t>
            </a:r>
          </a:p>
        </p:txBody>
      </p:sp>
      <p:sp>
        <p:nvSpPr>
          <p:cNvPr id="32" name="pill_color">
            <a:extLst>
              <a:ext uri="{FF2B5EF4-FFF2-40B4-BE49-F238E27FC236}">
                <a16:creationId xmlns:a16="http://schemas.microsoft.com/office/drawing/2014/main" id="{CF50C182-6C14-44E4-A406-6F6A785F2F12}"/>
              </a:ext>
            </a:extLst>
          </p:cNvPr>
          <p:cNvSpPr>
            <a:spLocks noGrp="1"/>
          </p:cNvSpPr>
          <p:nvPr/>
        </p:nvSpPr>
        <p:spPr>
          <a:xfrm>
            <a:off x="2876550" y="4457700"/>
            <a:ext cx="15430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33" name="pill_color_txt">
            <a:extLst>
              <a:ext uri="{FF2B5EF4-FFF2-40B4-BE49-F238E27FC236}">
                <a16:creationId xmlns:a16="http://schemas.microsoft.com/office/drawing/2014/main" id="{C661115F-3076-43AE-94D5-11508AD84060}"/>
              </a:ext>
            </a:extLst>
          </p:cNvPr>
          <p:cNvSpPr>
            <a:spLocks noGrp="1"/>
          </p:cNvSpPr>
          <p:nvPr/>
        </p:nvSpPr>
        <p:spPr>
          <a:xfrm>
            <a:off x="3009900" y="4533900"/>
            <a:ext cx="1276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红=上涨 绿=下跌</a:t>
            </a:r>
          </a:p>
        </p:txBody>
      </p:sp>
      <p:sp>
        <p:nvSpPr>
          <p:cNvPr id="34" name="pill_morph">
            <a:extLst>
              <a:ext uri="{FF2B5EF4-FFF2-40B4-BE49-F238E27FC236}">
                <a16:creationId xmlns:a16="http://schemas.microsoft.com/office/drawing/2014/main" id="{869DAFB0-CAD2-4556-8541-CFBB2423462E}"/>
              </a:ext>
            </a:extLst>
          </p:cNvPr>
          <p:cNvSpPr>
            <a:spLocks noGrp="1"/>
          </p:cNvSpPr>
          <p:nvPr/>
        </p:nvSpPr>
        <p:spPr>
          <a:xfrm>
            <a:off x="4572000" y="4457700"/>
            <a:ext cx="167640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6275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35" name="pill_morph_txt">
            <a:extLst>
              <a:ext uri="{FF2B5EF4-FFF2-40B4-BE49-F238E27FC236}">
                <a16:creationId xmlns:a16="http://schemas.microsoft.com/office/drawing/2014/main" id="{57A2D24C-9929-4CEE-93C3-6C37045F30E3}"/>
              </a:ext>
            </a:extLst>
          </p:cNvPr>
          <p:cNvSpPr>
            <a:spLocks noGrp="1"/>
          </p:cNvSpPr>
          <p:nvPr/>
        </p:nvSpPr>
        <p:spPr>
          <a:xfrm>
            <a:off x="4705350" y="4533900"/>
            <a:ext cx="140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视频版平滑切换</a:t>
            </a:r>
          </a:p>
        </p:txBody>
      </p:sp>
      <p:sp>
        <p:nvSpPr>
          <p:cNvPr id="36" name="footer_rule">
            <a:extLst>
              <a:ext uri="{FF2B5EF4-FFF2-40B4-BE49-F238E27FC236}">
                <a16:creationId xmlns:a16="http://schemas.microsoft.com/office/drawing/2014/main" id="{1CFE7D80-DC74-46CB-BA46-C59917D44AD6}"/>
              </a:ext>
            </a:extLst>
          </p:cNvPr>
          <p:cNvSpPr>
            <a:spLocks noGrp="1"/>
          </p:cNvSpPr>
          <p:nvPr/>
        </p:nvSpPr>
        <p:spPr>
          <a:xfrm>
            <a:off x="914400" y="6229350"/>
            <a:ext cx="10363200" cy="11430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ooter_source">
            <a:extLst>
              <a:ext uri="{FF2B5EF4-FFF2-40B4-BE49-F238E27FC236}">
                <a16:creationId xmlns:a16="http://schemas.microsoft.com/office/drawing/2014/main" id="{9B3899B5-D139-4B3B-9884-3D45A42E41F7}"/>
              </a:ext>
            </a:extLst>
          </p:cNvPr>
          <p:cNvSpPr>
            <a:spLocks noGrp="1"/>
          </p:cNvSpPr>
          <p:nvPr/>
        </p:nvSpPr>
        <p:spPr>
          <a:xfrm>
            <a:off x="914400" y="63627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数据口径：近5个交易日为 2026.06.02 收盘至 2026.06.09 收盘</a:t>
            </a:r>
          </a:p>
        </p:txBody>
      </p:sp>
      <p:sp>
        <p:nvSpPr>
          <p:cNvPr id="38" name="as_of">
            <a:extLst>
              <a:ext uri="{FF2B5EF4-FFF2-40B4-BE49-F238E27FC236}">
                <a16:creationId xmlns:a16="http://schemas.microsoft.com/office/drawing/2014/main" id="{F06E3427-FFC4-41CC-B177-95B4FAAD977F}"/>
              </a:ext>
            </a:extLst>
          </p:cNvPr>
          <p:cNvSpPr>
            <a:spLocks noGrp="1"/>
          </p:cNvSpPr>
          <p:nvPr/>
        </p:nvSpPr>
        <p:spPr>
          <a:xfrm>
            <a:off x="9810750" y="63627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2026.06.09 收盘</a:t>
            </a:r>
          </a:p>
        </p:txBody>
      </p:sp>
    </p:spTree>
    <p:extLst>
      <p:ext uri="{BB962C8B-B14F-4D97-AF65-F5344CB8AC3E}">
        <p14:creationId xmlns:p14="http://schemas.microsoft.com/office/powerpoint/2010/main" val="611386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background">
            <a:extLst>
              <a:ext uri="{FF2B5EF4-FFF2-40B4-BE49-F238E27FC236}">
                <a16:creationId xmlns:a16="http://schemas.microsoft.com/office/drawing/2014/main" id="{5B4022E2-5FF2-4A09-9BD2-38219EFA10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_v_0">
            <a:extLst>
              <a:ext uri="{FF2B5EF4-FFF2-40B4-BE49-F238E27FC236}">
                <a16:creationId xmlns:a16="http://schemas.microsoft.com/office/drawing/2014/main" id="{AC589E74-792A-4CCB-A9AD-017780BBBC99}"/>
              </a:ext>
            </a:extLst>
          </p:cNvPr>
          <p:cNvSpPr>
            <a:spLocks noGrp="1"/>
          </p:cNvSpPr>
          <p:nvPr/>
        </p:nvSpPr>
        <p:spPr>
          <a:xfrm>
            <a:off x="1047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grid_v_1">
            <a:extLst>
              <a:ext uri="{FF2B5EF4-FFF2-40B4-BE49-F238E27FC236}">
                <a16:creationId xmlns:a16="http://schemas.microsoft.com/office/drawing/2014/main" id="{FCEDD00D-0FD0-4E40-B20A-3FEBCC9FDE44}"/>
              </a:ext>
            </a:extLst>
          </p:cNvPr>
          <p:cNvSpPr>
            <a:spLocks noGrp="1"/>
          </p:cNvSpPr>
          <p:nvPr/>
        </p:nvSpPr>
        <p:spPr>
          <a:xfrm>
            <a:off x="2667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grid_v_2">
            <a:extLst>
              <a:ext uri="{FF2B5EF4-FFF2-40B4-BE49-F238E27FC236}">
                <a16:creationId xmlns:a16="http://schemas.microsoft.com/office/drawing/2014/main" id="{74CD1C7D-CE37-49C7-B019-399F381B6BEB}"/>
              </a:ext>
            </a:extLst>
          </p:cNvPr>
          <p:cNvSpPr>
            <a:spLocks noGrp="1"/>
          </p:cNvSpPr>
          <p:nvPr/>
        </p:nvSpPr>
        <p:spPr>
          <a:xfrm>
            <a:off x="4286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grid_v_3">
            <a:extLst>
              <a:ext uri="{FF2B5EF4-FFF2-40B4-BE49-F238E27FC236}">
                <a16:creationId xmlns:a16="http://schemas.microsoft.com/office/drawing/2014/main" id="{6A59711D-E2A2-49C8-9EA7-A26AFA28E83E}"/>
              </a:ext>
            </a:extLst>
          </p:cNvPr>
          <p:cNvSpPr>
            <a:spLocks noGrp="1"/>
          </p:cNvSpPr>
          <p:nvPr/>
        </p:nvSpPr>
        <p:spPr>
          <a:xfrm>
            <a:off x="59055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grid_v_4">
            <a:extLst>
              <a:ext uri="{FF2B5EF4-FFF2-40B4-BE49-F238E27FC236}">
                <a16:creationId xmlns:a16="http://schemas.microsoft.com/office/drawing/2014/main" id="{B762C4EF-60A5-4C0F-B141-687075736B6D}"/>
              </a:ext>
            </a:extLst>
          </p:cNvPr>
          <p:cNvSpPr>
            <a:spLocks noGrp="1"/>
          </p:cNvSpPr>
          <p:nvPr/>
        </p:nvSpPr>
        <p:spPr>
          <a:xfrm>
            <a:off x="7524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grid_v_5">
            <a:extLst>
              <a:ext uri="{FF2B5EF4-FFF2-40B4-BE49-F238E27FC236}">
                <a16:creationId xmlns:a16="http://schemas.microsoft.com/office/drawing/2014/main" id="{804ABFD5-6555-4369-B57A-0CBE3244C561}"/>
              </a:ext>
            </a:extLst>
          </p:cNvPr>
          <p:cNvSpPr>
            <a:spLocks noGrp="1"/>
          </p:cNvSpPr>
          <p:nvPr/>
        </p:nvSpPr>
        <p:spPr>
          <a:xfrm>
            <a:off x="9144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grid_v_6">
            <a:extLst>
              <a:ext uri="{FF2B5EF4-FFF2-40B4-BE49-F238E27FC236}">
                <a16:creationId xmlns:a16="http://schemas.microsoft.com/office/drawing/2014/main" id="{A9929859-797B-428E-AEE3-8E9D3795A576}"/>
              </a:ext>
            </a:extLst>
          </p:cNvPr>
          <p:cNvSpPr>
            <a:spLocks noGrp="1"/>
          </p:cNvSpPr>
          <p:nvPr/>
        </p:nvSpPr>
        <p:spPr>
          <a:xfrm>
            <a:off x="10763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C78D926F-415E-4640-A1CB-1C225B409884}"/>
              </a:ext>
            </a:extLst>
          </p:cNvPr>
          <p:cNvSpPr>
            <a:spLocks noGrp="1"/>
          </p:cNvSpPr>
          <p:nvPr/>
        </p:nvSpPr>
        <p:spPr>
          <a:xfrm>
            <a:off x="914400" y="533400"/>
            <a:ext cx="419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INDEX SNAPSHOT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FB86869-105E-4B29-9041-9CFEC5EC9DA3}"/>
              </a:ext>
            </a:extLst>
          </p:cNvPr>
          <p:cNvSpPr>
            <a:spLocks noGrp="1"/>
          </p:cNvSpPr>
          <p:nvPr/>
        </p:nvSpPr>
        <p:spPr>
          <a:xfrm>
            <a:off x="914400" y="838200"/>
            <a:ext cx="7620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强反弹之后，5日收益仍未转正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01F94B27-D425-4075-8652-6503F15D0CDE}"/>
              </a:ext>
            </a:extLst>
          </p:cNvPr>
          <p:cNvSpPr>
            <a:spLocks noGrp="1"/>
          </p:cNvSpPr>
          <p:nvPr/>
        </p:nvSpPr>
        <p:spPr>
          <a:xfrm>
            <a:off x="933450" y="142875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6月9日的单日修复很强，但从6月2日收盘看，主要宽基还在负区间。</a:t>
            </a:r>
          </a:p>
        </p:txBody>
      </p:sp>
      <p:sp>
        <p:nvSpPr>
          <p:cNvPr id="12" name="signal_bar">
            <a:extLst>
              <a:ext uri="{FF2B5EF4-FFF2-40B4-BE49-F238E27FC236}">
                <a16:creationId xmlns:a16="http://schemas.microsoft.com/office/drawing/2014/main" id="{15C95BEA-6169-44DE-A531-6F209FB4FE6A}"/>
              </a:ext>
            </a:extLst>
          </p:cNvPr>
          <p:cNvSpPr>
            <a:spLocks noGrp="1"/>
          </p:cNvSpPr>
          <p:nvPr/>
        </p:nvSpPr>
        <p:spPr>
          <a:xfrm>
            <a:off x="1581150" y="5962650"/>
            <a:ext cx="2286000" cy="47625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ignal_tail">
            <a:extLst>
              <a:ext uri="{FF2B5EF4-FFF2-40B4-BE49-F238E27FC236}">
                <a16:creationId xmlns:a16="http://schemas.microsoft.com/office/drawing/2014/main" id="{2D91BDAC-BADD-445A-8102-29A584B387AB}"/>
              </a:ext>
            </a:extLst>
          </p:cNvPr>
          <p:cNvSpPr>
            <a:spLocks noGrp="1"/>
          </p:cNvSpPr>
          <p:nvPr/>
        </p:nvSpPr>
        <p:spPr>
          <a:xfrm>
            <a:off x="3962400" y="5981700"/>
            <a:ext cx="55245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hart_title">
            <a:extLst>
              <a:ext uri="{FF2B5EF4-FFF2-40B4-BE49-F238E27FC236}">
                <a16:creationId xmlns:a16="http://schemas.microsoft.com/office/drawing/2014/main" id="{5230BD50-203A-4D0A-9663-F83A3939DF7A}"/>
              </a:ext>
            </a:extLst>
          </p:cNvPr>
          <p:cNvSpPr>
            <a:spLocks noGrp="1"/>
          </p:cNvSpPr>
          <p:nvPr/>
        </p:nvSpPr>
        <p:spPr>
          <a:xfrm>
            <a:off x="1581150" y="20955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近5个交易日涨跌幅</a:t>
            </a:r>
          </a:p>
        </p:txBody>
      </p:sp>
      <p:sp>
        <p:nvSpPr>
          <p:cNvPr id="15" name="week_bar_label_上证指数">
            <a:extLst>
              <a:ext uri="{FF2B5EF4-FFF2-40B4-BE49-F238E27FC236}">
                <a16:creationId xmlns:a16="http://schemas.microsoft.com/office/drawing/2014/main" id="{83BB4CC7-9025-42AF-A0F1-F47074277A54}"/>
              </a:ext>
            </a:extLst>
          </p:cNvPr>
          <p:cNvSpPr>
            <a:spLocks noGrp="1"/>
          </p:cNvSpPr>
          <p:nvPr/>
        </p:nvSpPr>
        <p:spPr>
          <a:xfrm>
            <a:off x="1847850" y="2590800"/>
            <a:ext cx="1123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上证指数</a:t>
            </a:r>
          </a:p>
        </p:txBody>
      </p:sp>
      <p:sp>
        <p:nvSpPr>
          <p:cNvPr id="16" name="week_bar_track_上证指数">
            <a:extLst>
              <a:ext uri="{FF2B5EF4-FFF2-40B4-BE49-F238E27FC236}">
                <a16:creationId xmlns:a16="http://schemas.microsoft.com/office/drawing/2014/main" id="{36293905-A3EF-46A2-A52E-AF5D80BFE7E3}"/>
              </a:ext>
            </a:extLst>
          </p:cNvPr>
          <p:cNvSpPr>
            <a:spLocks noGrp="1"/>
          </p:cNvSpPr>
          <p:nvPr/>
        </p:nvSpPr>
        <p:spPr>
          <a:xfrm>
            <a:off x="3105150" y="2705100"/>
            <a:ext cx="5238750" cy="9525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week_bar_zero_上证指数">
            <a:extLst>
              <a:ext uri="{FF2B5EF4-FFF2-40B4-BE49-F238E27FC236}">
                <a16:creationId xmlns:a16="http://schemas.microsoft.com/office/drawing/2014/main" id="{70972A67-FA0B-4140-B802-AB25CD5D6160}"/>
              </a:ext>
            </a:extLst>
          </p:cNvPr>
          <p:cNvSpPr>
            <a:spLocks noGrp="1"/>
          </p:cNvSpPr>
          <p:nvPr/>
        </p:nvSpPr>
        <p:spPr>
          <a:xfrm>
            <a:off x="7645400" y="2638425"/>
            <a:ext cx="13335" cy="142875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week_bar_value_上证指数">
            <a:extLst>
              <a:ext uri="{FF2B5EF4-FFF2-40B4-BE49-F238E27FC236}">
                <a16:creationId xmlns:a16="http://schemas.microsoft.com/office/drawing/2014/main" id="{AAC5C2EA-09DF-44A7-A46B-35C1177737FF}"/>
              </a:ext>
            </a:extLst>
          </p:cNvPr>
          <p:cNvSpPr>
            <a:spLocks noGrp="1"/>
          </p:cNvSpPr>
          <p:nvPr/>
        </p:nvSpPr>
        <p:spPr>
          <a:xfrm>
            <a:off x="4851400" y="2609850"/>
            <a:ext cx="2794000" cy="190500"/>
          </a:xfrm>
          <a:prstGeom prst="roundRect">
            <a:avLst>
              <a:gd name="adj" fmla="val 4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week_bar_pct_上证指数">
            <a:extLst>
              <a:ext uri="{FF2B5EF4-FFF2-40B4-BE49-F238E27FC236}">
                <a16:creationId xmlns:a16="http://schemas.microsoft.com/office/drawing/2014/main" id="{141283D0-5192-4DA2-BFC4-239D6EB80B7B}"/>
              </a:ext>
            </a:extLst>
          </p:cNvPr>
          <p:cNvSpPr>
            <a:spLocks noGrp="1"/>
          </p:cNvSpPr>
          <p:nvPr/>
        </p:nvSpPr>
        <p:spPr>
          <a:xfrm>
            <a:off x="4946650" y="2600325"/>
            <a:ext cx="704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5050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50506"/>
                </a:solidFill>
                <a:latin typeface="PingFang SC"/>
                <a:ea typeface="PingFang SC"/>
                <a:cs typeface="PingFang SC"/>
              </a:rPr>
              <a:t>-1.60%</a:t>
            </a:r>
          </a:p>
        </p:txBody>
      </p:sp>
      <p:sp>
        <p:nvSpPr>
          <p:cNvPr id="20" name="close_0">
            <a:extLst>
              <a:ext uri="{FF2B5EF4-FFF2-40B4-BE49-F238E27FC236}">
                <a16:creationId xmlns:a16="http://schemas.microsoft.com/office/drawing/2014/main" id="{04F4A0E6-3883-4521-ADA6-988AEE815074}"/>
              </a:ext>
            </a:extLst>
          </p:cNvPr>
          <p:cNvSpPr>
            <a:spLocks noGrp="1"/>
          </p:cNvSpPr>
          <p:nvPr/>
        </p:nvSpPr>
        <p:spPr>
          <a:xfrm>
            <a:off x="8839200" y="255270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4010.03</a:t>
            </a:r>
          </a:p>
        </p:txBody>
      </p:sp>
      <p:sp>
        <p:nvSpPr>
          <p:cNvPr id="21" name="day_0">
            <a:extLst>
              <a:ext uri="{FF2B5EF4-FFF2-40B4-BE49-F238E27FC236}">
                <a16:creationId xmlns:a16="http://schemas.microsoft.com/office/drawing/2014/main" id="{A6B6D2B6-6072-4CDC-9F7B-1B01E85EB950}"/>
              </a:ext>
            </a:extLst>
          </p:cNvPr>
          <p:cNvSpPr>
            <a:spLocks noGrp="1"/>
          </p:cNvSpPr>
          <p:nvPr/>
        </p:nvSpPr>
        <p:spPr>
          <a:xfrm>
            <a:off x="10325100" y="2581275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+1.28%</a:t>
            </a:r>
          </a:p>
        </p:txBody>
      </p:sp>
      <p:sp>
        <p:nvSpPr>
          <p:cNvPr id="22" name="week_bar_label_深证成指">
            <a:extLst>
              <a:ext uri="{FF2B5EF4-FFF2-40B4-BE49-F238E27FC236}">
                <a16:creationId xmlns:a16="http://schemas.microsoft.com/office/drawing/2014/main" id="{244CA048-9189-4539-A5D7-810E2D402417}"/>
              </a:ext>
            </a:extLst>
          </p:cNvPr>
          <p:cNvSpPr>
            <a:spLocks noGrp="1"/>
          </p:cNvSpPr>
          <p:nvPr/>
        </p:nvSpPr>
        <p:spPr>
          <a:xfrm>
            <a:off x="1847850" y="3181350"/>
            <a:ext cx="1123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深证成指</a:t>
            </a:r>
          </a:p>
        </p:txBody>
      </p:sp>
      <p:sp>
        <p:nvSpPr>
          <p:cNvPr id="23" name="week_bar_track_深证成指">
            <a:extLst>
              <a:ext uri="{FF2B5EF4-FFF2-40B4-BE49-F238E27FC236}">
                <a16:creationId xmlns:a16="http://schemas.microsoft.com/office/drawing/2014/main" id="{3F172D37-492C-4AC3-BA15-BE40550AA013}"/>
              </a:ext>
            </a:extLst>
          </p:cNvPr>
          <p:cNvSpPr>
            <a:spLocks noGrp="1"/>
          </p:cNvSpPr>
          <p:nvPr/>
        </p:nvSpPr>
        <p:spPr>
          <a:xfrm>
            <a:off x="3105150" y="3295650"/>
            <a:ext cx="5238750" cy="9525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week_bar_zero_深证成指">
            <a:extLst>
              <a:ext uri="{FF2B5EF4-FFF2-40B4-BE49-F238E27FC236}">
                <a16:creationId xmlns:a16="http://schemas.microsoft.com/office/drawing/2014/main" id="{6F9BFC41-7041-4456-9513-2569087F9E9B}"/>
              </a:ext>
            </a:extLst>
          </p:cNvPr>
          <p:cNvSpPr>
            <a:spLocks noGrp="1"/>
          </p:cNvSpPr>
          <p:nvPr/>
        </p:nvSpPr>
        <p:spPr>
          <a:xfrm>
            <a:off x="7645400" y="3228975"/>
            <a:ext cx="13335" cy="142875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week_bar_value_深证成指">
            <a:extLst>
              <a:ext uri="{FF2B5EF4-FFF2-40B4-BE49-F238E27FC236}">
                <a16:creationId xmlns:a16="http://schemas.microsoft.com/office/drawing/2014/main" id="{63971B3E-1219-4707-8418-5A512DB5E120}"/>
              </a:ext>
            </a:extLst>
          </p:cNvPr>
          <p:cNvSpPr>
            <a:spLocks noGrp="1"/>
          </p:cNvSpPr>
          <p:nvPr/>
        </p:nvSpPr>
        <p:spPr>
          <a:xfrm>
            <a:off x="4030663" y="3200400"/>
            <a:ext cx="3614738" cy="190500"/>
          </a:xfrm>
          <a:prstGeom prst="roundRect">
            <a:avLst>
              <a:gd name="adj" fmla="val 4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week_bar_pct_深证成指">
            <a:extLst>
              <a:ext uri="{FF2B5EF4-FFF2-40B4-BE49-F238E27FC236}">
                <a16:creationId xmlns:a16="http://schemas.microsoft.com/office/drawing/2014/main" id="{3A659C91-943B-4A59-A5BC-36156AAB70E8}"/>
              </a:ext>
            </a:extLst>
          </p:cNvPr>
          <p:cNvSpPr>
            <a:spLocks noGrp="1"/>
          </p:cNvSpPr>
          <p:nvPr/>
        </p:nvSpPr>
        <p:spPr>
          <a:xfrm>
            <a:off x="4125913" y="3190875"/>
            <a:ext cx="704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5050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50506"/>
                </a:solidFill>
                <a:latin typeface="PingFang SC"/>
                <a:ea typeface="PingFang SC"/>
                <a:cs typeface="PingFang SC"/>
              </a:rPr>
              <a:t>-2.07%</a:t>
            </a:r>
          </a:p>
        </p:txBody>
      </p:sp>
      <p:sp>
        <p:nvSpPr>
          <p:cNvPr id="27" name="close_1">
            <a:extLst>
              <a:ext uri="{FF2B5EF4-FFF2-40B4-BE49-F238E27FC236}">
                <a16:creationId xmlns:a16="http://schemas.microsoft.com/office/drawing/2014/main" id="{D1FFF86B-1477-4FF8-B07D-8EB0587FD76C}"/>
              </a:ext>
            </a:extLst>
          </p:cNvPr>
          <p:cNvSpPr>
            <a:spLocks noGrp="1"/>
          </p:cNvSpPr>
          <p:nvPr/>
        </p:nvSpPr>
        <p:spPr>
          <a:xfrm>
            <a:off x="8839200" y="314325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15268.71</a:t>
            </a:r>
          </a:p>
        </p:txBody>
      </p:sp>
      <p:sp>
        <p:nvSpPr>
          <p:cNvPr id="28" name="day_1">
            <a:extLst>
              <a:ext uri="{FF2B5EF4-FFF2-40B4-BE49-F238E27FC236}">
                <a16:creationId xmlns:a16="http://schemas.microsoft.com/office/drawing/2014/main" id="{F6D9C746-520D-46F0-92C9-F7F736B62963}"/>
              </a:ext>
            </a:extLst>
          </p:cNvPr>
          <p:cNvSpPr>
            <a:spLocks noGrp="1"/>
          </p:cNvSpPr>
          <p:nvPr/>
        </p:nvSpPr>
        <p:spPr>
          <a:xfrm>
            <a:off x="10325100" y="3171825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+3.02%</a:t>
            </a:r>
          </a:p>
        </p:txBody>
      </p:sp>
      <p:sp>
        <p:nvSpPr>
          <p:cNvPr id="29" name="week_bar_label_创业板指">
            <a:extLst>
              <a:ext uri="{FF2B5EF4-FFF2-40B4-BE49-F238E27FC236}">
                <a16:creationId xmlns:a16="http://schemas.microsoft.com/office/drawing/2014/main" id="{CCC3566E-EFBE-4E51-82D5-6EC217D5F462}"/>
              </a:ext>
            </a:extLst>
          </p:cNvPr>
          <p:cNvSpPr>
            <a:spLocks noGrp="1"/>
          </p:cNvSpPr>
          <p:nvPr/>
        </p:nvSpPr>
        <p:spPr>
          <a:xfrm>
            <a:off x="1847850" y="3771900"/>
            <a:ext cx="1123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创业板指</a:t>
            </a:r>
          </a:p>
        </p:txBody>
      </p:sp>
      <p:sp>
        <p:nvSpPr>
          <p:cNvPr id="30" name="week_bar_track_创业板指">
            <a:extLst>
              <a:ext uri="{FF2B5EF4-FFF2-40B4-BE49-F238E27FC236}">
                <a16:creationId xmlns:a16="http://schemas.microsoft.com/office/drawing/2014/main" id="{5580DBD5-15B2-4397-889E-794BBEE389BC}"/>
              </a:ext>
            </a:extLst>
          </p:cNvPr>
          <p:cNvSpPr>
            <a:spLocks noGrp="1"/>
          </p:cNvSpPr>
          <p:nvPr/>
        </p:nvSpPr>
        <p:spPr>
          <a:xfrm>
            <a:off x="3105150" y="3886200"/>
            <a:ext cx="5238750" cy="9525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week_bar_zero_创业板指">
            <a:extLst>
              <a:ext uri="{FF2B5EF4-FFF2-40B4-BE49-F238E27FC236}">
                <a16:creationId xmlns:a16="http://schemas.microsoft.com/office/drawing/2014/main" id="{CF43F838-74F0-4D4B-8926-395647A4BCBA}"/>
              </a:ext>
            </a:extLst>
          </p:cNvPr>
          <p:cNvSpPr>
            <a:spLocks noGrp="1"/>
          </p:cNvSpPr>
          <p:nvPr/>
        </p:nvSpPr>
        <p:spPr>
          <a:xfrm>
            <a:off x="7645400" y="3819525"/>
            <a:ext cx="13335" cy="142875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week_bar_value_创业板指">
            <a:extLst>
              <a:ext uri="{FF2B5EF4-FFF2-40B4-BE49-F238E27FC236}">
                <a16:creationId xmlns:a16="http://schemas.microsoft.com/office/drawing/2014/main" id="{A6787629-BDA4-4E08-8950-EEA8E9656C66}"/>
              </a:ext>
            </a:extLst>
          </p:cNvPr>
          <p:cNvSpPr>
            <a:spLocks noGrp="1"/>
          </p:cNvSpPr>
          <p:nvPr/>
        </p:nvSpPr>
        <p:spPr>
          <a:xfrm>
            <a:off x="3594100" y="3790950"/>
            <a:ext cx="4051300" cy="190500"/>
          </a:xfrm>
          <a:prstGeom prst="roundRect">
            <a:avLst>
              <a:gd name="adj" fmla="val 4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week_bar_pct_创业板指">
            <a:extLst>
              <a:ext uri="{FF2B5EF4-FFF2-40B4-BE49-F238E27FC236}">
                <a16:creationId xmlns:a16="http://schemas.microsoft.com/office/drawing/2014/main" id="{DCE789EC-5EF6-40DE-82EE-0B48A048BCD1}"/>
              </a:ext>
            </a:extLst>
          </p:cNvPr>
          <p:cNvSpPr>
            <a:spLocks noGrp="1"/>
          </p:cNvSpPr>
          <p:nvPr/>
        </p:nvSpPr>
        <p:spPr>
          <a:xfrm>
            <a:off x="3689350" y="3781425"/>
            <a:ext cx="704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5050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50506"/>
                </a:solidFill>
                <a:latin typeface="PingFang SC"/>
                <a:ea typeface="PingFang SC"/>
                <a:cs typeface="PingFang SC"/>
              </a:rPr>
              <a:t>-2.32%</a:t>
            </a:r>
          </a:p>
        </p:txBody>
      </p:sp>
      <p:sp>
        <p:nvSpPr>
          <p:cNvPr id="34" name="close_2">
            <a:extLst>
              <a:ext uri="{FF2B5EF4-FFF2-40B4-BE49-F238E27FC236}">
                <a16:creationId xmlns:a16="http://schemas.microsoft.com/office/drawing/2014/main" id="{3A6ECE78-E0F4-43BB-8CCC-8E4772CA58D1}"/>
              </a:ext>
            </a:extLst>
          </p:cNvPr>
          <p:cNvSpPr>
            <a:spLocks noGrp="1"/>
          </p:cNvSpPr>
          <p:nvPr/>
        </p:nvSpPr>
        <p:spPr>
          <a:xfrm>
            <a:off x="8839200" y="373380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3961.75</a:t>
            </a:r>
          </a:p>
        </p:txBody>
      </p:sp>
      <p:sp>
        <p:nvSpPr>
          <p:cNvPr id="35" name="day_2">
            <a:extLst>
              <a:ext uri="{FF2B5EF4-FFF2-40B4-BE49-F238E27FC236}">
                <a16:creationId xmlns:a16="http://schemas.microsoft.com/office/drawing/2014/main" id="{75515127-687C-4A73-843B-F2A950CF9CE7}"/>
              </a:ext>
            </a:extLst>
          </p:cNvPr>
          <p:cNvSpPr>
            <a:spLocks noGrp="1"/>
          </p:cNvSpPr>
          <p:nvPr/>
        </p:nvSpPr>
        <p:spPr>
          <a:xfrm>
            <a:off x="10325100" y="3762375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+3.93%</a:t>
            </a:r>
          </a:p>
        </p:txBody>
      </p:sp>
      <p:sp>
        <p:nvSpPr>
          <p:cNvPr id="36" name="week_bar_label_沪深300">
            <a:extLst>
              <a:ext uri="{FF2B5EF4-FFF2-40B4-BE49-F238E27FC236}">
                <a16:creationId xmlns:a16="http://schemas.microsoft.com/office/drawing/2014/main" id="{C7A5107A-CC72-4257-89AC-50777F7D2562}"/>
              </a:ext>
            </a:extLst>
          </p:cNvPr>
          <p:cNvSpPr>
            <a:spLocks noGrp="1"/>
          </p:cNvSpPr>
          <p:nvPr/>
        </p:nvSpPr>
        <p:spPr>
          <a:xfrm>
            <a:off x="1847850" y="4362450"/>
            <a:ext cx="1123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沪深300</a:t>
            </a:r>
          </a:p>
        </p:txBody>
      </p:sp>
      <p:sp>
        <p:nvSpPr>
          <p:cNvPr id="37" name="week_bar_track_沪深300">
            <a:extLst>
              <a:ext uri="{FF2B5EF4-FFF2-40B4-BE49-F238E27FC236}">
                <a16:creationId xmlns:a16="http://schemas.microsoft.com/office/drawing/2014/main" id="{FA1E52D4-EA75-4134-99D0-A1B58744EAC1}"/>
              </a:ext>
            </a:extLst>
          </p:cNvPr>
          <p:cNvSpPr>
            <a:spLocks noGrp="1"/>
          </p:cNvSpPr>
          <p:nvPr/>
        </p:nvSpPr>
        <p:spPr>
          <a:xfrm>
            <a:off x="3105150" y="4476750"/>
            <a:ext cx="5238750" cy="9525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week_bar_zero_沪深300">
            <a:extLst>
              <a:ext uri="{FF2B5EF4-FFF2-40B4-BE49-F238E27FC236}">
                <a16:creationId xmlns:a16="http://schemas.microsoft.com/office/drawing/2014/main" id="{27A0E5B7-19E2-4E71-9E19-7ADB0A3B4D05}"/>
              </a:ext>
            </a:extLst>
          </p:cNvPr>
          <p:cNvSpPr>
            <a:spLocks noGrp="1"/>
          </p:cNvSpPr>
          <p:nvPr/>
        </p:nvSpPr>
        <p:spPr>
          <a:xfrm>
            <a:off x="7645400" y="4410075"/>
            <a:ext cx="13335" cy="142875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week_bar_value_沪深300">
            <a:extLst>
              <a:ext uri="{FF2B5EF4-FFF2-40B4-BE49-F238E27FC236}">
                <a16:creationId xmlns:a16="http://schemas.microsoft.com/office/drawing/2014/main" id="{EA267F10-A493-4D0C-BAE6-DA421B9B671F}"/>
              </a:ext>
            </a:extLst>
          </p:cNvPr>
          <p:cNvSpPr>
            <a:spLocks noGrp="1"/>
          </p:cNvSpPr>
          <p:nvPr/>
        </p:nvSpPr>
        <p:spPr>
          <a:xfrm>
            <a:off x="3646488" y="4381500"/>
            <a:ext cx="3998913" cy="190500"/>
          </a:xfrm>
          <a:prstGeom prst="roundRect">
            <a:avLst>
              <a:gd name="adj" fmla="val 4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week_bar_pct_沪深300">
            <a:extLst>
              <a:ext uri="{FF2B5EF4-FFF2-40B4-BE49-F238E27FC236}">
                <a16:creationId xmlns:a16="http://schemas.microsoft.com/office/drawing/2014/main" id="{B54B7928-87FE-4F17-814A-A86BEBF7FDF7}"/>
              </a:ext>
            </a:extLst>
          </p:cNvPr>
          <p:cNvSpPr>
            <a:spLocks noGrp="1"/>
          </p:cNvSpPr>
          <p:nvPr/>
        </p:nvSpPr>
        <p:spPr>
          <a:xfrm>
            <a:off x="3741738" y="4371975"/>
            <a:ext cx="704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5050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50506"/>
                </a:solidFill>
                <a:latin typeface="PingFang SC"/>
                <a:ea typeface="PingFang SC"/>
                <a:cs typeface="PingFang SC"/>
              </a:rPr>
              <a:t>-2.29%</a:t>
            </a:r>
          </a:p>
        </p:txBody>
      </p:sp>
      <p:sp>
        <p:nvSpPr>
          <p:cNvPr id="41" name="close_3">
            <a:extLst>
              <a:ext uri="{FF2B5EF4-FFF2-40B4-BE49-F238E27FC236}">
                <a16:creationId xmlns:a16="http://schemas.microsoft.com/office/drawing/2014/main" id="{E24941FF-2991-4FA8-AD64-1720B78FD269}"/>
              </a:ext>
            </a:extLst>
          </p:cNvPr>
          <p:cNvSpPr>
            <a:spLocks noGrp="1"/>
          </p:cNvSpPr>
          <p:nvPr/>
        </p:nvSpPr>
        <p:spPr>
          <a:xfrm>
            <a:off x="8839200" y="432435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4801.81</a:t>
            </a:r>
          </a:p>
        </p:txBody>
      </p:sp>
      <p:sp>
        <p:nvSpPr>
          <p:cNvPr id="42" name="day_3">
            <a:extLst>
              <a:ext uri="{FF2B5EF4-FFF2-40B4-BE49-F238E27FC236}">
                <a16:creationId xmlns:a16="http://schemas.microsoft.com/office/drawing/2014/main" id="{34AAA229-2FE2-4F53-9E0F-0D9DD0F5D14E}"/>
              </a:ext>
            </a:extLst>
          </p:cNvPr>
          <p:cNvSpPr>
            <a:spLocks noGrp="1"/>
          </p:cNvSpPr>
          <p:nvPr/>
        </p:nvSpPr>
        <p:spPr>
          <a:xfrm>
            <a:off x="10325100" y="4352925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+1.87%</a:t>
            </a:r>
          </a:p>
        </p:txBody>
      </p:sp>
      <p:sp>
        <p:nvSpPr>
          <p:cNvPr id="43" name="week_bar_label_科创50">
            <a:extLst>
              <a:ext uri="{FF2B5EF4-FFF2-40B4-BE49-F238E27FC236}">
                <a16:creationId xmlns:a16="http://schemas.microsoft.com/office/drawing/2014/main" id="{17A83F64-699C-4A72-9516-B34663F5B80D}"/>
              </a:ext>
            </a:extLst>
          </p:cNvPr>
          <p:cNvSpPr>
            <a:spLocks noGrp="1"/>
          </p:cNvSpPr>
          <p:nvPr/>
        </p:nvSpPr>
        <p:spPr>
          <a:xfrm>
            <a:off x="1847850" y="4953000"/>
            <a:ext cx="1123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科创50</a:t>
            </a:r>
          </a:p>
        </p:txBody>
      </p:sp>
      <p:sp>
        <p:nvSpPr>
          <p:cNvPr id="44" name="week_bar_track_科创50">
            <a:extLst>
              <a:ext uri="{FF2B5EF4-FFF2-40B4-BE49-F238E27FC236}">
                <a16:creationId xmlns:a16="http://schemas.microsoft.com/office/drawing/2014/main" id="{68C3C5B0-7E9E-45C0-8C8E-FD7938A4DC66}"/>
              </a:ext>
            </a:extLst>
          </p:cNvPr>
          <p:cNvSpPr>
            <a:spLocks noGrp="1"/>
          </p:cNvSpPr>
          <p:nvPr/>
        </p:nvSpPr>
        <p:spPr>
          <a:xfrm>
            <a:off x="3105150" y="5067300"/>
            <a:ext cx="5238750" cy="9525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week_bar_zero_科创50">
            <a:extLst>
              <a:ext uri="{FF2B5EF4-FFF2-40B4-BE49-F238E27FC236}">
                <a16:creationId xmlns:a16="http://schemas.microsoft.com/office/drawing/2014/main" id="{36C1636D-6748-45B8-94BB-65F48B848299}"/>
              </a:ext>
            </a:extLst>
          </p:cNvPr>
          <p:cNvSpPr>
            <a:spLocks noGrp="1"/>
          </p:cNvSpPr>
          <p:nvPr/>
        </p:nvSpPr>
        <p:spPr>
          <a:xfrm>
            <a:off x="7645400" y="5000625"/>
            <a:ext cx="13335" cy="142875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week_bar_value_科创50">
            <a:extLst>
              <a:ext uri="{FF2B5EF4-FFF2-40B4-BE49-F238E27FC236}">
                <a16:creationId xmlns:a16="http://schemas.microsoft.com/office/drawing/2014/main" id="{AF5A1478-CD4E-4886-A20E-773E3B2B4D49}"/>
              </a:ext>
            </a:extLst>
          </p:cNvPr>
          <p:cNvSpPr>
            <a:spLocks noGrp="1"/>
          </p:cNvSpPr>
          <p:nvPr/>
        </p:nvSpPr>
        <p:spPr>
          <a:xfrm>
            <a:off x="4816475" y="4972050"/>
            <a:ext cx="2828925" cy="190500"/>
          </a:xfrm>
          <a:prstGeom prst="roundRect">
            <a:avLst>
              <a:gd name="adj" fmla="val 4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week_bar_pct_科创50">
            <a:extLst>
              <a:ext uri="{FF2B5EF4-FFF2-40B4-BE49-F238E27FC236}">
                <a16:creationId xmlns:a16="http://schemas.microsoft.com/office/drawing/2014/main" id="{967A2A31-9BD8-4ABA-B582-A1789C2DB512}"/>
              </a:ext>
            </a:extLst>
          </p:cNvPr>
          <p:cNvSpPr>
            <a:spLocks noGrp="1"/>
          </p:cNvSpPr>
          <p:nvPr/>
        </p:nvSpPr>
        <p:spPr>
          <a:xfrm>
            <a:off x="4911725" y="4962525"/>
            <a:ext cx="704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5050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50506"/>
                </a:solidFill>
                <a:latin typeface="PingFang SC"/>
                <a:ea typeface="PingFang SC"/>
                <a:cs typeface="PingFang SC"/>
              </a:rPr>
              <a:t>-1.62%</a:t>
            </a:r>
          </a:p>
        </p:txBody>
      </p:sp>
      <p:sp>
        <p:nvSpPr>
          <p:cNvPr id="48" name="close_4">
            <a:extLst>
              <a:ext uri="{FF2B5EF4-FFF2-40B4-BE49-F238E27FC236}">
                <a16:creationId xmlns:a16="http://schemas.microsoft.com/office/drawing/2014/main" id="{6B607F20-480B-4D38-A944-F18C372DCC67}"/>
              </a:ext>
            </a:extLst>
          </p:cNvPr>
          <p:cNvSpPr>
            <a:spLocks noGrp="1"/>
          </p:cNvSpPr>
          <p:nvPr/>
        </p:nvSpPr>
        <p:spPr>
          <a:xfrm>
            <a:off x="8839200" y="491490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1106.06</a:t>
            </a:r>
          </a:p>
        </p:txBody>
      </p:sp>
      <p:sp>
        <p:nvSpPr>
          <p:cNvPr id="49" name="day_4">
            <a:extLst>
              <a:ext uri="{FF2B5EF4-FFF2-40B4-BE49-F238E27FC236}">
                <a16:creationId xmlns:a16="http://schemas.microsoft.com/office/drawing/2014/main" id="{B9ABE86A-F8CF-4BE0-818F-EA1613B1A6E8}"/>
              </a:ext>
            </a:extLst>
          </p:cNvPr>
          <p:cNvSpPr>
            <a:spLocks noGrp="1"/>
          </p:cNvSpPr>
          <p:nvPr/>
        </p:nvSpPr>
        <p:spPr>
          <a:xfrm>
            <a:off x="10325100" y="4943475"/>
            <a:ext cx="781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+4.17%</a:t>
            </a:r>
          </a:p>
        </p:txBody>
      </p:sp>
      <p:sp>
        <p:nvSpPr>
          <p:cNvPr id="50" name="single_day">
            <a:extLst>
              <a:ext uri="{FF2B5EF4-FFF2-40B4-BE49-F238E27FC236}">
                <a16:creationId xmlns:a16="http://schemas.microsoft.com/office/drawing/2014/main" id="{5FCD0344-5AA8-4820-9641-51361CDE02D4}"/>
              </a:ext>
            </a:extLst>
          </p:cNvPr>
          <p:cNvSpPr>
            <a:spLocks noGrp="1"/>
          </p:cNvSpPr>
          <p:nvPr/>
        </p:nvSpPr>
        <p:spPr>
          <a:xfrm>
            <a:off x="9029700" y="1943100"/>
            <a:ext cx="1809750" cy="323850"/>
          </a:xfrm>
          <a:prstGeom prst="roundRect">
            <a:avLst>
              <a:gd name="adj" fmla="val 23529"/>
            </a:avLst>
          </a:prstGeom>
          <a:solidFill>
            <a:srgbClr val="FF453A">
              <a:alpha val="7843"/>
            </a:srgbClr>
          </a:solidFill>
          <a:ln w="9525">
            <a:solidFill>
              <a:srgbClr val="FF453A">
                <a:alpha val="18824"/>
              </a:srgbClr>
            </a:solidFill>
            <a:prstDash val="solid"/>
          </a:ln>
        </p:spPr>
      </p:sp>
      <p:sp>
        <p:nvSpPr>
          <p:cNvPr id="51" name="single_day_txt">
            <a:extLst>
              <a:ext uri="{FF2B5EF4-FFF2-40B4-BE49-F238E27FC236}">
                <a16:creationId xmlns:a16="http://schemas.microsoft.com/office/drawing/2014/main" id="{02730761-2267-4B3C-9E42-6A4E147A2C9A}"/>
              </a:ext>
            </a:extLst>
          </p:cNvPr>
          <p:cNvSpPr>
            <a:spLocks noGrp="1"/>
          </p:cNvSpPr>
          <p:nvPr/>
        </p:nvSpPr>
        <p:spPr>
          <a:xfrm>
            <a:off x="9163050" y="2019300"/>
            <a:ext cx="1543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453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453A"/>
                </a:solidFill>
                <a:latin typeface="PingFang SC"/>
                <a:ea typeface="PingFang SC"/>
                <a:cs typeface="PingFang SC"/>
              </a:rPr>
              <a:t>06.09单日均上涨</a:t>
            </a:r>
          </a:p>
        </p:txBody>
      </p:sp>
      <p:sp>
        <p:nvSpPr>
          <p:cNvPr id="52" name="read_label">
            <a:extLst>
              <a:ext uri="{FF2B5EF4-FFF2-40B4-BE49-F238E27FC236}">
                <a16:creationId xmlns:a16="http://schemas.microsoft.com/office/drawing/2014/main" id="{7857EE4C-958B-47B2-BBA2-7792719260D0}"/>
              </a:ext>
            </a:extLst>
          </p:cNvPr>
          <p:cNvSpPr>
            <a:spLocks noGrp="1"/>
          </p:cNvSpPr>
          <p:nvPr/>
        </p:nvSpPr>
        <p:spPr>
          <a:xfrm>
            <a:off x="1581150" y="5429250"/>
            <a:ext cx="53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读法</a:t>
            </a:r>
          </a:p>
        </p:txBody>
      </p:sp>
      <p:sp>
        <p:nvSpPr>
          <p:cNvPr id="53" name="read_text">
            <a:extLst>
              <a:ext uri="{FF2B5EF4-FFF2-40B4-BE49-F238E27FC236}">
                <a16:creationId xmlns:a16="http://schemas.microsoft.com/office/drawing/2014/main" id="{90BEB35C-98F9-43D8-9A97-4DFFAC1ABF4E}"/>
              </a:ext>
            </a:extLst>
          </p:cNvPr>
          <p:cNvSpPr>
            <a:spLocks noGrp="1"/>
          </p:cNvSpPr>
          <p:nvPr/>
        </p:nvSpPr>
        <p:spPr>
          <a:xfrm>
            <a:off x="2114550" y="5419725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指数层面是“急跌后的修复”，不是一周内已经全面收复。</a:t>
            </a:r>
          </a:p>
        </p:txBody>
      </p:sp>
      <p:sp>
        <p:nvSpPr>
          <p:cNvPr id="54" name="footer_rule">
            <a:extLst>
              <a:ext uri="{FF2B5EF4-FFF2-40B4-BE49-F238E27FC236}">
                <a16:creationId xmlns:a16="http://schemas.microsoft.com/office/drawing/2014/main" id="{5899703D-EC6D-4D2A-9C0F-C13A08F4E821}"/>
              </a:ext>
            </a:extLst>
          </p:cNvPr>
          <p:cNvSpPr>
            <a:spLocks noGrp="1"/>
          </p:cNvSpPr>
          <p:nvPr/>
        </p:nvSpPr>
        <p:spPr>
          <a:xfrm>
            <a:off x="914400" y="6229350"/>
            <a:ext cx="10363200" cy="11430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footer_source">
            <a:extLst>
              <a:ext uri="{FF2B5EF4-FFF2-40B4-BE49-F238E27FC236}">
                <a16:creationId xmlns:a16="http://schemas.microsoft.com/office/drawing/2014/main" id="{EF09429B-88BA-4CE9-AF59-66B4DD89C2F4}"/>
              </a:ext>
            </a:extLst>
          </p:cNvPr>
          <p:cNvSpPr>
            <a:spLocks noGrp="1"/>
          </p:cNvSpPr>
          <p:nvPr/>
        </p:nvSpPr>
        <p:spPr>
          <a:xfrm>
            <a:off x="914400" y="63627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近5个交易日：2026.06.02 收盘至 2026.06.09 收盘</a:t>
            </a:r>
          </a:p>
        </p:txBody>
      </p:sp>
      <p:sp>
        <p:nvSpPr>
          <p:cNvPr id="56" name="as_of">
            <a:extLst>
              <a:ext uri="{FF2B5EF4-FFF2-40B4-BE49-F238E27FC236}">
                <a16:creationId xmlns:a16="http://schemas.microsoft.com/office/drawing/2014/main" id="{747C5306-94ED-433C-9E51-887274AF9944}"/>
              </a:ext>
            </a:extLst>
          </p:cNvPr>
          <p:cNvSpPr>
            <a:spLocks noGrp="1"/>
          </p:cNvSpPr>
          <p:nvPr/>
        </p:nvSpPr>
        <p:spPr>
          <a:xfrm>
            <a:off x="9810750" y="63627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2026.06.09 收盘</a:t>
            </a:r>
          </a:p>
        </p:txBody>
      </p:sp>
    </p:spTree>
    <p:extLst>
      <p:ext uri="{BB962C8B-B14F-4D97-AF65-F5344CB8AC3E}">
        <p14:creationId xmlns:p14="http://schemas.microsoft.com/office/powerpoint/2010/main" val="2144365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ackground">
            <a:extLst>
              <a:ext uri="{FF2B5EF4-FFF2-40B4-BE49-F238E27FC236}">
                <a16:creationId xmlns:a16="http://schemas.microsoft.com/office/drawing/2014/main" id="{D093527F-F608-4065-B187-2C3B06C845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_v_0">
            <a:extLst>
              <a:ext uri="{FF2B5EF4-FFF2-40B4-BE49-F238E27FC236}">
                <a16:creationId xmlns:a16="http://schemas.microsoft.com/office/drawing/2014/main" id="{056709CB-4E0E-4DE8-903A-504789C687DA}"/>
              </a:ext>
            </a:extLst>
          </p:cNvPr>
          <p:cNvSpPr>
            <a:spLocks noGrp="1"/>
          </p:cNvSpPr>
          <p:nvPr/>
        </p:nvSpPr>
        <p:spPr>
          <a:xfrm>
            <a:off x="1047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grid_v_1">
            <a:extLst>
              <a:ext uri="{FF2B5EF4-FFF2-40B4-BE49-F238E27FC236}">
                <a16:creationId xmlns:a16="http://schemas.microsoft.com/office/drawing/2014/main" id="{ADB7B071-B26B-4668-9D05-AECAEF1E2856}"/>
              </a:ext>
            </a:extLst>
          </p:cNvPr>
          <p:cNvSpPr>
            <a:spLocks noGrp="1"/>
          </p:cNvSpPr>
          <p:nvPr/>
        </p:nvSpPr>
        <p:spPr>
          <a:xfrm>
            <a:off x="2667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grid_v_2">
            <a:extLst>
              <a:ext uri="{FF2B5EF4-FFF2-40B4-BE49-F238E27FC236}">
                <a16:creationId xmlns:a16="http://schemas.microsoft.com/office/drawing/2014/main" id="{0221ECB3-6695-4B15-AEC7-C05F6277F234}"/>
              </a:ext>
            </a:extLst>
          </p:cNvPr>
          <p:cNvSpPr>
            <a:spLocks noGrp="1"/>
          </p:cNvSpPr>
          <p:nvPr/>
        </p:nvSpPr>
        <p:spPr>
          <a:xfrm>
            <a:off x="4286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grid_v_3">
            <a:extLst>
              <a:ext uri="{FF2B5EF4-FFF2-40B4-BE49-F238E27FC236}">
                <a16:creationId xmlns:a16="http://schemas.microsoft.com/office/drawing/2014/main" id="{4B04F25A-6A27-4036-A696-D4AA24B2A44F}"/>
              </a:ext>
            </a:extLst>
          </p:cNvPr>
          <p:cNvSpPr>
            <a:spLocks noGrp="1"/>
          </p:cNvSpPr>
          <p:nvPr/>
        </p:nvSpPr>
        <p:spPr>
          <a:xfrm>
            <a:off x="59055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grid_v_4">
            <a:extLst>
              <a:ext uri="{FF2B5EF4-FFF2-40B4-BE49-F238E27FC236}">
                <a16:creationId xmlns:a16="http://schemas.microsoft.com/office/drawing/2014/main" id="{851F726E-CE6D-400A-A187-7C7A08A4AE43}"/>
              </a:ext>
            </a:extLst>
          </p:cNvPr>
          <p:cNvSpPr>
            <a:spLocks noGrp="1"/>
          </p:cNvSpPr>
          <p:nvPr/>
        </p:nvSpPr>
        <p:spPr>
          <a:xfrm>
            <a:off x="7524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grid_v_5">
            <a:extLst>
              <a:ext uri="{FF2B5EF4-FFF2-40B4-BE49-F238E27FC236}">
                <a16:creationId xmlns:a16="http://schemas.microsoft.com/office/drawing/2014/main" id="{DE7BF0EE-CB46-4403-84B7-FE029D45CD79}"/>
              </a:ext>
            </a:extLst>
          </p:cNvPr>
          <p:cNvSpPr>
            <a:spLocks noGrp="1"/>
          </p:cNvSpPr>
          <p:nvPr/>
        </p:nvSpPr>
        <p:spPr>
          <a:xfrm>
            <a:off x="9144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grid_v_6">
            <a:extLst>
              <a:ext uri="{FF2B5EF4-FFF2-40B4-BE49-F238E27FC236}">
                <a16:creationId xmlns:a16="http://schemas.microsoft.com/office/drawing/2014/main" id="{6E77BAB0-D0A7-4263-B86B-03F36F0BF20F}"/>
              </a:ext>
            </a:extLst>
          </p:cNvPr>
          <p:cNvSpPr>
            <a:spLocks noGrp="1"/>
          </p:cNvSpPr>
          <p:nvPr/>
        </p:nvSpPr>
        <p:spPr>
          <a:xfrm>
            <a:off x="10763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9400436C-6CFC-4B69-BBA3-810C0662F4C8}"/>
              </a:ext>
            </a:extLst>
          </p:cNvPr>
          <p:cNvSpPr>
            <a:spLocks noGrp="1"/>
          </p:cNvSpPr>
          <p:nvPr/>
        </p:nvSpPr>
        <p:spPr>
          <a:xfrm>
            <a:off x="914400" y="533400"/>
            <a:ext cx="419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SHANGHAI COMPOSITE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4EC2A0B7-9836-4C72-92D7-AA41F1B270A3}"/>
              </a:ext>
            </a:extLst>
          </p:cNvPr>
          <p:cNvSpPr>
            <a:spLocks noGrp="1"/>
          </p:cNvSpPr>
          <p:nvPr/>
        </p:nvSpPr>
        <p:spPr>
          <a:xfrm>
            <a:off x="914400" y="838200"/>
            <a:ext cx="7620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4000点，是这周视频里的视觉锚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C50A4898-88DC-4359-85A3-55AE4EC68885}"/>
              </a:ext>
            </a:extLst>
          </p:cNvPr>
          <p:cNvSpPr>
            <a:spLocks noGrp="1"/>
          </p:cNvSpPr>
          <p:nvPr/>
        </p:nvSpPr>
        <p:spPr>
          <a:xfrm>
            <a:off x="933450" y="142875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6月8日跌破4000，6月9日重新站回；镜头可以围绕这条基线推进。</a:t>
            </a:r>
          </a:p>
        </p:txBody>
      </p:sp>
      <p:sp>
        <p:nvSpPr>
          <p:cNvPr id="12" name="signal_bar">
            <a:extLst>
              <a:ext uri="{FF2B5EF4-FFF2-40B4-BE49-F238E27FC236}">
                <a16:creationId xmlns:a16="http://schemas.microsoft.com/office/drawing/2014/main" id="{2DF9EEAE-AED3-4611-A88F-35A7CC06D545}"/>
              </a:ext>
            </a:extLst>
          </p:cNvPr>
          <p:cNvSpPr>
            <a:spLocks noGrp="1"/>
          </p:cNvSpPr>
          <p:nvPr/>
        </p:nvSpPr>
        <p:spPr>
          <a:xfrm>
            <a:off x="2724150" y="5962650"/>
            <a:ext cx="2524125" cy="47625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ignal_tail">
            <a:extLst>
              <a:ext uri="{FF2B5EF4-FFF2-40B4-BE49-F238E27FC236}">
                <a16:creationId xmlns:a16="http://schemas.microsoft.com/office/drawing/2014/main" id="{023304CE-194A-4CAB-A7AF-BEEB9F9B4A06}"/>
              </a:ext>
            </a:extLst>
          </p:cNvPr>
          <p:cNvSpPr>
            <a:spLocks noGrp="1"/>
          </p:cNvSpPr>
          <p:nvPr/>
        </p:nvSpPr>
        <p:spPr>
          <a:xfrm>
            <a:off x="5343525" y="5981700"/>
            <a:ext cx="55245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grid_4100">
            <a:extLst>
              <a:ext uri="{FF2B5EF4-FFF2-40B4-BE49-F238E27FC236}">
                <a16:creationId xmlns:a16="http://schemas.microsoft.com/office/drawing/2014/main" id="{38E4FD44-1CDB-44C2-A784-6E6FE33274DF}"/>
              </a:ext>
            </a:extLst>
          </p:cNvPr>
          <p:cNvSpPr>
            <a:spLocks noGrp="1"/>
          </p:cNvSpPr>
          <p:nvPr/>
        </p:nvSpPr>
        <p:spPr>
          <a:xfrm>
            <a:off x="1219200" y="2529609"/>
            <a:ext cx="8572500" cy="11430"/>
          </a:xfrm>
          <a:prstGeom prst="rect">
            <a:avLst/>
          </a:prstGeom>
          <a:solidFill>
            <a:srgbClr val="FFFFFF">
              <a:alpha val="862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ick_4100">
            <a:extLst>
              <a:ext uri="{FF2B5EF4-FFF2-40B4-BE49-F238E27FC236}">
                <a16:creationId xmlns:a16="http://schemas.microsoft.com/office/drawing/2014/main" id="{0C6BD028-96D4-49B3-9ADC-F14AA14A9012}"/>
              </a:ext>
            </a:extLst>
          </p:cNvPr>
          <p:cNvSpPr>
            <a:spLocks noGrp="1"/>
          </p:cNvSpPr>
          <p:nvPr/>
        </p:nvSpPr>
        <p:spPr>
          <a:xfrm>
            <a:off x="10001250" y="2424834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A9A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A9AA2"/>
                </a:solidFill>
                <a:latin typeface="Aptos"/>
                <a:ea typeface="Aptos"/>
                <a:cs typeface="Aptos"/>
              </a:rPr>
              <a:t>4100</a:t>
            </a:r>
          </a:p>
        </p:txBody>
      </p:sp>
      <p:sp>
        <p:nvSpPr>
          <p:cNvPr id="16" name="grid_4050">
            <a:extLst>
              <a:ext uri="{FF2B5EF4-FFF2-40B4-BE49-F238E27FC236}">
                <a16:creationId xmlns:a16="http://schemas.microsoft.com/office/drawing/2014/main" id="{C4D9A9B3-E290-4B0E-9FD5-8019F7DC3EB0}"/>
              </a:ext>
            </a:extLst>
          </p:cNvPr>
          <p:cNvSpPr>
            <a:spLocks noGrp="1"/>
          </p:cNvSpPr>
          <p:nvPr/>
        </p:nvSpPr>
        <p:spPr>
          <a:xfrm>
            <a:off x="1219200" y="3251200"/>
            <a:ext cx="8572500" cy="11430"/>
          </a:xfrm>
          <a:prstGeom prst="rect">
            <a:avLst/>
          </a:prstGeom>
          <a:solidFill>
            <a:srgbClr val="FFFFFF">
              <a:alpha val="862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ick_4050">
            <a:extLst>
              <a:ext uri="{FF2B5EF4-FFF2-40B4-BE49-F238E27FC236}">
                <a16:creationId xmlns:a16="http://schemas.microsoft.com/office/drawing/2014/main" id="{6C976F16-EB89-445F-A3F2-99BAABF54B8F}"/>
              </a:ext>
            </a:extLst>
          </p:cNvPr>
          <p:cNvSpPr>
            <a:spLocks noGrp="1"/>
          </p:cNvSpPr>
          <p:nvPr/>
        </p:nvSpPr>
        <p:spPr>
          <a:xfrm>
            <a:off x="10001250" y="3146425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A9A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A9AA2"/>
                </a:solidFill>
                <a:latin typeface="Aptos"/>
                <a:ea typeface="Aptos"/>
                <a:cs typeface="Aptos"/>
              </a:rPr>
              <a:t>4050</a:t>
            </a:r>
          </a:p>
        </p:txBody>
      </p:sp>
      <p:sp>
        <p:nvSpPr>
          <p:cNvPr id="18" name="grid_4000">
            <a:extLst>
              <a:ext uri="{FF2B5EF4-FFF2-40B4-BE49-F238E27FC236}">
                <a16:creationId xmlns:a16="http://schemas.microsoft.com/office/drawing/2014/main" id="{70CE0E55-F7D3-4B73-B41A-4806A3BD4DB8}"/>
              </a:ext>
            </a:extLst>
          </p:cNvPr>
          <p:cNvSpPr>
            <a:spLocks noGrp="1"/>
          </p:cNvSpPr>
          <p:nvPr/>
        </p:nvSpPr>
        <p:spPr>
          <a:xfrm>
            <a:off x="1219200" y="3972791"/>
            <a:ext cx="8572500" cy="11430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ick_4000">
            <a:extLst>
              <a:ext uri="{FF2B5EF4-FFF2-40B4-BE49-F238E27FC236}">
                <a16:creationId xmlns:a16="http://schemas.microsoft.com/office/drawing/2014/main" id="{B054A41D-6C21-4928-9AE3-DFF0B8359147}"/>
              </a:ext>
            </a:extLst>
          </p:cNvPr>
          <p:cNvSpPr>
            <a:spLocks noGrp="1"/>
          </p:cNvSpPr>
          <p:nvPr/>
        </p:nvSpPr>
        <p:spPr>
          <a:xfrm>
            <a:off x="10001250" y="3868016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7F7F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F7F8"/>
                </a:solidFill>
                <a:latin typeface="Aptos"/>
                <a:ea typeface="Aptos"/>
                <a:cs typeface="Aptos"/>
              </a:rPr>
              <a:t>4000</a:t>
            </a:r>
          </a:p>
        </p:txBody>
      </p:sp>
      <p:sp>
        <p:nvSpPr>
          <p:cNvPr id="20" name="grid_3950">
            <a:extLst>
              <a:ext uri="{FF2B5EF4-FFF2-40B4-BE49-F238E27FC236}">
                <a16:creationId xmlns:a16="http://schemas.microsoft.com/office/drawing/2014/main" id="{EE21D3C4-C71E-4839-895C-F614491D8A05}"/>
              </a:ext>
            </a:extLst>
          </p:cNvPr>
          <p:cNvSpPr>
            <a:spLocks noGrp="1"/>
          </p:cNvSpPr>
          <p:nvPr/>
        </p:nvSpPr>
        <p:spPr>
          <a:xfrm>
            <a:off x="1219200" y="4694382"/>
            <a:ext cx="8572500" cy="11430"/>
          </a:xfrm>
          <a:prstGeom prst="rect">
            <a:avLst/>
          </a:prstGeom>
          <a:solidFill>
            <a:srgbClr val="FFFFFF">
              <a:alpha val="862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ick_3950">
            <a:extLst>
              <a:ext uri="{FF2B5EF4-FFF2-40B4-BE49-F238E27FC236}">
                <a16:creationId xmlns:a16="http://schemas.microsoft.com/office/drawing/2014/main" id="{5C1BA4C6-C647-43A7-8E42-2FFE0F33315F}"/>
              </a:ext>
            </a:extLst>
          </p:cNvPr>
          <p:cNvSpPr>
            <a:spLocks noGrp="1"/>
          </p:cNvSpPr>
          <p:nvPr/>
        </p:nvSpPr>
        <p:spPr>
          <a:xfrm>
            <a:off x="10001250" y="4589607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A9A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A9AA2"/>
                </a:solidFill>
                <a:latin typeface="Aptos"/>
                <a:ea typeface="Aptos"/>
                <a:cs typeface="Aptos"/>
              </a:rPr>
              <a:t>3950</a:t>
            </a:r>
          </a:p>
        </p:txBody>
      </p:sp>
      <p:sp>
        <p:nvSpPr>
          <p:cNvPr id="22" name="hero_number">
            <a:extLst>
              <a:ext uri="{FF2B5EF4-FFF2-40B4-BE49-F238E27FC236}">
                <a16:creationId xmlns:a16="http://schemas.microsoft.com/office/drawing/2014/main" id="{9FCECF9F-0869-4A46-8215-F593D64E828A}"/>
              </a:ext>
            </a:extLst>
          </p:cNvPr>
          <p:cNvSpPr>
            <a:spLocks noGrp="1"/>
          </p:cNvSpPr>
          <p:nvPr/>
        </p:nvSpPr>
        <p:spPr>
          <a:xfrm>
            <a:off x="10572750" y="3439391"/>
            <a:ext cx="723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4000</a:t>
            </a:r>
          </a:p>
        </p:txBody>
      </p:sp>
      <p:sp>
        <p:nvSpPr>
          <p:cNvPr id="23" name="path_dot_0">
            <a:extLst>
              <a:ext uri="{FF2B5EF4-FFF2-40B4-BE49-F238E27FC236}">
                <a16:creationId xmlns:a16="http://schemas.microsoft.com/office/drawing/2014/main" id="{19D41CE2-7A93-47F2-882E-7645BBBC5A35}"/>
              </a:ext>
            </a:extLst>
          </p:cNvPr>
          <p:cNvSpPr>
            <a:spLocks noGrp="1"/>
          </p:cNvSpPr>
          <p:nvPr/>
        </p:nvSpPr>
        <p:spPr>
          <a:xfrm>
            <a:off x="1152525" y="2822286"/>
            <a:ext cx="133350" cy="133350"/>
          </a:xfrm>
          <a:prstGeom prst="ellipse">
            <a:avLst/>
          </a:prstGeom>
          <a:solidFill>
            <a:srgbClr val="F7F7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date_0">
            <a:extLst>
              <a:ext uri="{FF2B5EF4-FFF2-40B4-BE49-F238E27FC236}">
                <a16:creationId xmlns:a16="http://schemas.microsoft.com/office/drawing/2014/main" id="{87ABA2F3-856E-4AB8-8871-42925C5B7A1C}"/>
              </a:ext>
            </a:extLst>
          </p:cNvPr>
          <p:cNvSpPr>
            <a:spLocks noGrp="1"/>
          </p:cNvSpPr>
          <p:nvPr/>
        </p:nvSpPr>
        <p:spPr>
          <a:xfrm>
            <a:off x="914400" y="50673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06.02</a:t>
            </a:r>
          </a:p>
        </p:txBody>
      </p:sp>
      <p:sp>
        <p:nvSpPr>
          <p:cNvPr id="25" name="path_segment_1">
            <a:extLst>
              <a:ext uri="{FF2B5EF4-FFF2-40B4-BE49-F238E27FC236}">
                <a16:creationId xmlns:a16="http://schemas.microsoft.com/office/drawing/2014/main" id="{A3E40E01-5F0A-4B77-8185-4354B5BD2EFC}"/>
              </a:ext>
            </a:extLst>
          </p:cNvPr>
          <p:cNvSpPr>
            <a:spLocks noGrp="1"/>
          </p:cNvSpPr>
          <p:nvPr/>
        </p:nvSpPr>
        <p:spPr>
          <a:xfrm rot="-256198">
            <a:off x="1219200" y="2869911"/>
            <a:ext cx="1719272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path_dot_1">
            <a:extLst>
              <a:ext uri="{FF2B5EF4-FFF2-40B4-BE49-F238E27FC236}">
                <a16:creationId xmlns:a16="http://schemas.microsoft.com/office/drawing/2014/main" id="{373C20E0-9E42-4C0C-BB8C-24DA6EFA8B48}"/>
              </a:ext>
            </a:extLst>
          </p:cNvPr>
          <p:cNvSpPr>
            <a:spLocks noGrp="1"/>
          </p:cNvSpPr>
          <p:nvPr/>
        </p:nvSpPr>
        <p:spPr>
          <a:xfrm>
            <a:off x="2867025" y="2694276"/>
            <a:ext cx="133350" cy="133350"/>
          </a:xfrm>
          <a:prstGeom prst="ellipse">
            <a:avLst/>
          </a:prstGeom>
          <a:solidFill>
            <a:srgbClr val="F7F7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date_1">
            <a:extLst>
              <a:ext uri="{FF2B5EF4-FFF2-40B4-BE49-F238E27FC236}">
                <a16:creationId xmlns:a16="http://schemas.microsoft.com/office/drawing/2014/main" id="{04EBBED1-A2E7-4FBB-BF14-2C159C3AABE7}"/>
              </a:ext>
            </a:extLst>
          </p:cNvPr>
          <p:cNvSpPr>
            <a:spLocks noGrp="1"/>
          </p:cNvSpPr>
          <p:nvPr/>
        </p:nvSpPr>
        <p:spPr>
          <a:xfrm>
            <a:off x="2628900" y="50673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06.03</a:t>
            </a:r>
          </a:p>
        </p:txBody>
      </p:sp>
      <p:sp>
        <p:nvSpPr>
          <p:cNvPr id="28" name="path_segment_2">
            <a:extLst>
              <a:ext uri="{FF2B5EF4-FFF2-40B4-BE49-F238E27FC236}">
                <a16:creationId xmlns:a16="http://schemas.microsoft.com/office/drawing/2014/main" id="{B40B6348-FB4E-496E-B42E-80BB5CC2E4EB}"/>
              </a:ext>
            </a:extLst>
          </p:cNvPr>
          <p:cNvSpPr>
            <a:spLocks noGrp="1"/>
          </p:cNvSpPr>
          <p:nvPr/>
        </p:nvSpPr>
        <p:spPr>
          <a:xfrm rot="745935">
            <a:off x="2933700" y="2741901"/>
            <a:ext cx="1755668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ath_dot_2">
            <a:extLst>
              <a:ext uri="{FF2B5EF4-FFF2-40B4-BE49-F238E27FC236}">
                <a16:creationId xmlns:a16="http://schemas.microsoft.com/office/drawing/2014/main" id="{FDFD0118-7FF8-4532-BB61-E5E783E51638}"/>
              </a:ext>
            </a:extLst>
          </p:cNvPr>
          <p:cNvSpPr>
            <a:spLocks noGrp="1"/>
          </p:cNvSpPr>
          <p:nvPr/>
        </p:nvSpPr>
        <p:spPr>
          <a:xfrm>
            <a:off x="4581525" y="3072245"/>
            <a:ext cx="133350" cy="133350"/>
          </a:xfrm>
          <a:prstGeom prst="ellipse">
            <a:avLst/>
          </a:prstGeom>
          <a:solidFill>
            <a:srgbClr val="F7F7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date_2">
            <a:extLst>
              <a:ext uri="{FF2B5EF4-FFF2-40B4-BE49-F238E27FC236}">
                <a16:creationId xmlns:a16="http://schemas.microsoft.com/office/drawing/2014/main" id="{773CBC72-55A1-415A-8C4A-EFED438AEC03}"/>
              </a:ext>
            </a:extLst>
          </p:cNvPr>
          <p:cNvSpPr>
            <a:spLocks noGrp="1"/>
          </p:cNvSpPr>
          <p:nvPr/>
        </p:nvSpPr>
        <p:spPr>
          <a:xfrm>
            <a:off x="4343400" y="50673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06.04</a:t>
            </a:r>
          </a:p>
        </p:txBody>
      </p:sp>
      <p:sp>
        <p:nvSpPr>
          <p:cNvPr id="31" name="path_segment_3">
            <a:extLst>
              <a:ext uri="{FF2B5EF4-FFF2-40B4-BE49-F238E27FC236}">
                <a16:creationId xmlns:a16="http://schemas.microsoft.com/office/drawing/2014/main" id="{F2DA4860-6584-4D2B-96E4-D1E318E132BF}"/>
              </a:ext>
            </a:extLst>
          </p:cNvPr>
          <p:cNvSpPr>
            <a:spLocks noGrp="1"/>
          </p:cNvSpPr>
          <p:nvPr/>
        </p:nvSpPr>
        <p:spPr>
          <a:xfrm rot="851428">
            <a:off x="4648200" y="3119870"/>
            <a:ext cx="1768463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path_dot_3">
            <a:extLst>
              <a:ext uri="{FF2B5EF4-FFF2-40B4-BE49-F238E27FC236}">
                <a16:creationId xmlns:a16="http://schemas.microsoft.com/office/drawing/2014/main" id="{A3E257BD-7683-4B77-88F0-782405991102}"/>
              </a:ext>
            </a:extLst>
          </p:cNvPr>
          <p:cNvSpPr>
            <a:spLocks noGrp="1"/>
          </p:cNvSpPr>
          <p:nvPr/>
        </p:nvSpPr>
        <p:spPr>
          <a:xfrm>
            <a:off x="6296025" y="3505777"/>
            <a:ext cx="133350" cy="133350"/>
          </a:xfrm>
          <a:prstGeom prst="ellipse">
            <a:avLst/>
          </a:prstGeom>
          <a:solidFill>
            <a:srgbClr val="F7F7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date_3">
            <a:extLst>
              <a:ext uri="{FF2B5EF4-FFF2-40B4-BE49-F238E27FC236}">
                <a16:creationId xmlns:a16="http://schemas.microsoft.com/office/drawing/2014/main" id="{6827BB3D-B557-4BDE-9A03-795F3AB5E62C}"/>
              </a:ext>
            </a:extLst>
          </p:cNvPr>
          <p:cNvSpPr>
            <a:spLocks noGrp="1"/>
          </p:cNvSpPr>
          <p:nvPr/>
        </p:nvSpPr>
        <p:spPr>
          <a:xfrm>
            <a:off x="6057900" y="50673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06.05</a:t>
            </a:r>
          </a:p>
        </p:txBody>
      </p:sp>
      <p:sp>
        <p:nvSpPr>
          <p:cNvPr id="34" name="close_label_3">
            <a:extLst>
              <a:ext uri="{FF2B5EF4-FFF2-40B4-BE49-F238E27FC236}">
                <a16:creationId xmlns:a16="http://schemas.microsoft.com/office/drawing/2014/main" id="{64D1DB9D-F6CE-4B4A-834D-B14701CF1B29}"/>
              </a:ext>
            </a:extLst>
          </p:cNvPr>
          <p:cNvSpPr>
            <a:spLocks noGrp="1"/>
          </p:cNvSpPr>
          <p:nvPr/>
        </p:nvSpPr>
        <p:spPr>
          <a:xfrm>
            <a:off x="5924550" y="3248602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0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4027.74</a:t>
            </a:r>
          </a:p>
        </p:txBody>
      </p:sp>
      <p:sp>
        <p:nvSpPr>
          <p:cNvPr id="35" name="path_segment_4">
            <a:extLst>
              <a:ext uri="{FF2B5EF4-FFF2-40B4-BE49-F238E27FC236}">
                <a16:creationId xmlns:a16="http://schemas.microsoft.com/office/drawing/2014/main" id="{46C69361-291C-48D6-BC95-8508E318177A}"/>
              </a:ext>
            </a:extLst>
          </p:cNvPr>
          <p:cNvSpPr>
            <a:spLocks noGrp="1"/>
          </p:cNvSpPr>
          <p:nvPr/>
        </p:nvSpPr>
        <p:spPr>
          <a:xfrm rot="1795891">
            <a:off x="6362700" y="3553402"/>
            <a:ext cx="1978370" cy="38100"/>
          </a:xfrm>
          <a:prstGeom prst="roundRect">
            <a:avLst>
              <a:gd name="adj" fmla="val 50000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path_dot_4">
            <a:extLst>
              <a:ext uri="{FF2B5EF4-FFF2-40B4-BE49-F238E27FC236}">
                <a16:creationId xmlns:a16="http://schemas.microsoft.com/office/drawing/2014/main" id="{167B801B-76A0-4E5E-8317-DF9B9E0DF341}"/>
              </a:ext>
            </a:extLst>
          </p:cNvPr>
          <p:cNvSpPr>
            <a:spLocks noGrp="1"/>
          </p:cNvSpPr>
          <p:nvPr/>
        </p:nvSpPr>
        <p:spPr>
          <a:xfrm>
            <a:off x="8010525" y="4492914"/>
            <a:ext cx="133350" cy="133350"/>
          </a:xfrm>
          <a:prstGeom prst="ellipse">
            <a:avLst/>
          </a:prstGeom>
          <a:solidFill>
            <a:srgbClr val="F7F7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date_4">
            <a:extLst>
              <a:ext uri="{FF2B5EF4-FFF2-40B4-BE49-F238E27FC236}">
                <a16:creationId xmlns:a16="http://schemas.microsoft.com/office/drawing/2014/main" id="{5E1411AC-274F-4A5A-BA28-B32AAD0CCEFB}"/>
              </a:ext>
            </a:extLst>
          </p:cNvPr>
          <p:cNvSpPr>
            <a:spLocks noGrp="1"/>
          </p:cNvSpPr>
          <p:nvPr/>
        </p:nvSpPr>
        <p:spPr>
          <a:xfrm>
            <a:off x="7772400" y="50673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06.08</a:t>
            </a:r>
          </a:p>
        </p:txBody>
      </p:sp>
      <p:sp>
        <p:nvSpPr>
          <p:cNvPr id="38" name="close_label_4">
            <a:extLst>
              <a:ext uri="{FF2B5EF4-FFF2-40B4-BE49-F238E27FC236}">
                <a16:creationId xmlns:a16="http://schemas.microsoft.com/office/drawing/2014/main" id="{947E6653-5969-4B24-A747-E376CF513F26}"/>
              </a:ext>
            </a:extLst>
          </p:cNvPr>
          <p:cNvSpPr>
            <a:spLocks noGrp="1"/>
          </p:cNvSpPr>
          <p:nvPr/>
        </p:nvSpPr>
        <p:spPr>
          <a:xfrm>
            <a:off x="7639050" y="4235739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0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3959.34</a:t>
            </a:r>
          </a:p>
        </p:txBody>
      </p:sp>
      <p:sp>
        <p:nvSpPr>
          <p:cNvPr id="39" name="path_segment_5">
            <a:extLst>
              <a:ext uri="{FF2B5EF4-FFF2-40B4-BE49-F238E27FC236}">
                <a16:creationId xmlns:a16="http://schemas.microsoft.com/office/drawing/2014/main" id="{4A9BB389-5747-488D-93D1-B29FF2542F2B}"/>
              </a:ext>
            </a:extLst>
          </p:cNvPr>
          <p:cNvSpPr>
            <a:spLocks noGrp="1"/>
          </p:cNvSpPr>
          <p:nvPr/>
        </p:nvSpPr>
        <p:spPr>
          <a:xfrm rot="-1386429">
            <a:off x="8077200" y="4540539"/>
            <a:ext cx="1864048" cy="38100"/>
          </a:xfrm>
          <a:prstGeom prst="roundRect">
            <a:avLst>
              <a:gd name="adj" fmla="val 50000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path_dot_5">
            <a:extLst>
              <a:ext uri="{FF2B5EF4-FFF2-40B4-BE49-F238E27FC236}">
                <a16:creationId xmlns:a16="http://schemas.microsoft.com/office/drawing/2014/main" id="{6EFFB9E0-0493-4F55-A12A-F1270A6BE570}"/>
              </a:ext>
            </a:extLst>
          </p:cNvPr>
          <p:cNvSpPr>
            <a:spLocks noGrp="1"/>
          </p:cNvSpPr>
          <p:nvPr/>
        </p:nvSpPr>
        <p:spPr>
          <a:xfrm>
            <a:off x="9725025" y="3761365"/>
            <a:ext cx="133350" cy="133350"/>
          </a:xfrm>
          <a:prstGeom prst="ellipse">
            <a:avLst/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date_5">
            <a:extLst>
              <a:ext uri="{FF2B5EF4-FFF2-40B4-BE49-F238E27FC236}">
                <a16:creationId xmlns:a16="http://schemas.microsoft.com/office/drawing/2014/main" id="{30B42C40-EBF6-452D-894E-AA73624F56B8}"/>
              </a:ext>
            </a:extLst>
          </p:cNvPr>
          <p:cNvSpPr>
            <a:spLocks noGrp="1"/>
          </p:cNvSpPr>
          <p:nvPr/>
        </p:nvSpPr>
        <p:spPr>
          <a:xfrm>
            <a:off x="9486900" y="5067300"/>
            <a:ext cx="609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06.09</a:t>
            </a:r>
          </a:p>
        </p:txBody>
      </p:sp>
      <p:sp>
        <p:nvSpPr>
          <p:cNvPr id="42" name="close_label_5">
            <a:extLst>
              <a:ext uri="{FF2B5EF4-FFF2-40B4-BE49-F238E27FC236}">
                <a16:creationId xmlns:a16="http://schemas.microsoft.com/office/drawing/2014/main" id="{B4A6E08C-7D3B-4233-B652-EB444D4D65DA}"/>
              </a:ext>
            </a:extLst>
          </p:cNvPr>
          <p:cNvSpPr>
            <a:spLocks noGrp="1"/>
          </p:cNvSpPr>
          <p:nvPr/>
        </p:nvSpPr>
        <p:spPr>
          <a:xfrm>
            <a:off x="9353550" y="3504190"/>
            <a:ext cx="876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4010.03</a:t>
            </a:r>
          </a:p>
        </p:txBody>
      </p:sp>
      <p:sp>
        <p:nvSpPr>
          <p:cNvPr id="43" name="claim">
            <a:extLst>
              <a:ext uri="{FF2B5EF4-FFF2-40B4-BE49-F238E27FC236}">
                <a16:creationId xmlns:a16="http://schemas.microsoft.com/office/drawing/2014/main" id="{FA65FF84-A97E-4018-AAE6-C08112531F55}"/>
              </a:ext>
            </a:extLst>
          </p:cNvPr>
          <p:cNvSpPr>
            <a:spLocks noGrp="1"/>
          </p:cNvSpPr>
          <p:nvPr/>
        </p:nvSpPr>
        <p:spPr>
          <a:xfrm>
            <a:off x="1219200" y="525780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从4084到3959再回4010，市场用两天把情绪从“破位”切回“修复”。</a:t>
            </a:r>
          </a:p>
        </p:txBody>
      </p:sp>
      <p:sp>
        <p:nvSpPr>
          <p:cNvPr id="44" name="footer_rule">
            <a:extLst>
              <a:ext uri="{FF2B5EF4-FFF2-40B4-BE49-F238E27FC236}">
                <a16:creationId xmlns:a16="http://schemas.microsoft.com/office/drawing/2014/main" id="{53E20B62-E682-4229-8A27-3A9B8797EA72}"/>
              </a:ext>
            </a:extLst>
          </p:cNvPr>
          <p:cNvSpPr>
            <a:spLocks noGrp="1"/>
          </p:cNvSpPr>
          <p:nvPr/>
        </p:nvSpPr>
        <p:spPr>
          <a:xfrm>
            <a:off x="914400" y="6229350"/>
            <a:ext cx="10363200" cy="11430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footer_source">
            <a:extLst>
              <a:ext uri="{FF2B5EF4-FFF2-40B4-BE49-F238E27FC236}">
                <a16:creationId xmlns:a16="http://schemas.microsoft.com/office/drawing/2014/main" id="{678AF6ED-DFDF-4FD3-BCC2-14E8B10EF7E7}"/>
              </a:ext>
            </a:extLst>
          </p:cNvPr>
          <p:cNvSpPr>
            <a:spLocks noGrp="1"/>
          </p:cNvSpPr>
          <p:nvPr/>
        </p:nvSpPr>
        <p:spPr>
          <a:xfrm>
            <a:off x="914400" y="63627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上证指数日线来自东方财富公开K线；其余指数来自同花顺每日行情复盘</a:t>
            </a:r>
          </a:p>
        </p:txBody>
      </p:sp>
      <p:sp>
        <p:nvSpPr>
          <p:cNvPr id="46" name="as_of">
            <a:extLst>
              <a:ext uri="{FF2B5EF4-FFF2-40B4-BE49-F238E27FC236}">
                <a16:creationId xmlns:a16="http://schemas.microsoft.com/office/drawing/2014/main" id="{84A4F21B-D559-45D8-A8E4-FC59E63DA9FC}"/>
              </a:ext>
            </a:extLst>
          </p:cNvPr>
          <p:cNvSpPr>
            <a:spLocks noGrp="1"/>
          </p:cNvSpPr>
          <p:nvPr/>
        </p:nvSpPr>
        <p:spPr>
          <a:xfrm>
            <a:off x="9810750" y="63627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2026.06.09 收盘</a:t>
            </a:r>
          </a:p>
        </p:txBody>
      </p:sp>
    </p:spTree>
    <p:extLst>
      <p:ext uri="{BB962C8B-B14F-4D97-AF65-F5344CB8AC3E}">
        <p14:creationId xmlns:p14="http://schemas.microsoft.com/office/powerpoint/2010/main" val="1660855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ackground">
            <a:extLst>
              <a:ext uri="{FF2B5EF4-FFF2-40B4-BE49-F238E27FC236}">
                <a16:creationId xmlns:a16="http://schemas.microsoft.com/office/drawing/2014/main" id="{2664E517-1481-4DBC-BB4A-BEF102AE33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_v_0">
            <a:extLst>
              <a:ext uri="{FF2B5EF4-FFF2-40B4-BE49-F238E27FC236}">
                <a16:creationId xmlns:a16="http://schemas.microsoft.com/office/drawing/2014/main" id="{B641C621-4174-49FE-B9CF-19DD791EA3E2}"/>
              </a:ext>
            </a:extLst>
          </p:cNvPr>
          <p:cNvSpPr>
            <a:spLocks noGrp="1"/>
          </p:cNvSpPr>
          <p:nvPr/>
        </p:nvSpPr>
        <p:spPr>
          <a:xfrm>
            <a:off x="1047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grid_v_1">
            <a:extLst>
              <a:ext uri="{FF2B5EF4-FFF2-40B4-BE49-F238E27FC236}">
                <a16:creationId xmlns:a16="http://schemas.microsoft.com/office/drawing/2014/main" id="{06B7C2C0-0F54-457E-A58B-50A7D6A16C50}"/>
              </a:ext>
            </a:extLst>
          </p:cNvPr>
          <p:cNvSpPr>
            <a:spLocks noGrp="1"/>
          </p:cNvSpPr>
          <p:nvPr/>
        </p:nvSpPr>
        <p:spPr>
          <a:xfrm>
            <a:off x="2667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grid_v_2">
            <a:extLst>
              <a:ext uri="{FF2B5EF4-FFF2-40B4-BE49-F238E27FC236}">
                <a16:creationId xmlns:a16="http://schemas.microsoft.com/office/drawing/2014/main" id="{CDCA2A8C-AD5C-4B18-B615-3A363467E9E4}"/>
              </a:ext>
            </a:extLst>
          </p:cNvPr>
          <p:cNvSpPr>
            <a:spLocks noGrp="1"/>
          </p:cNvSpPr>
          <p:nvPr/>
        </p:nvSpPr>
        <p:spPr>
          <a:xfrm>
            <a:off x="4286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grid_v_3">
            <a:extLst>
              <a:ext uri="{FF2B5EF4-FFF2-40B4-BE49-F238E27FC236}">
                <a16:creationId xmlns:a16="http://schemas.microsoft.com/office/drawing/2014/main" id="{7EDD27B7-8E43-4D1D-B84E-BD6AAD684340}"/>
              </a:ext>
            </a:extLst>
          </p:cNvPr>
          <p:cNvSpPr>
            <a:spLocks noGrp="1"/>
          </p:cNvSpPr>
          <p:nvPr/>
        </p:nvSpPr>
        <p:spPr>
          <a:xfrm>
            <a:off x="59055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grid_v_4">
            <a:extLst>
              <a:ext uri="{FF2B5EF4-FFF2-40B4-BE49-F238E27FC236}">
                <a16:creationId xmlns:a16="http://schemas.microsoft.com/office/drawing/2014/main" id="{CF23DFC8-118D-4827-A294-5D2133B73FB5}"/>
              </a:ext>
            </a:extLst>
          </p:cNvPr>
          <p:cNvSpPr>
            <a:spLocks noGrp="1"/>
          </p:cNvSpPr>
          <p:nvPr/>
        </p:nvSpPr>
        <p:spPr>
          <a:xfrm>
            <a:off x="7524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grid_v_5">
            <a:extLst>
              <a:ext uri="{FF2B5EF4-FFF2-40B4-BE49-F238E27FC236}">
                <a16:creationId xmlns:a16="http://schemas.microsoft.com/office/drawing/2014/main" id="{F7C37D3D-AEFC-4F93-AC53-93A11C7ED300}"/>
              </a:ext>
            </a:extLst>
          </p:cNvPr>
          <p:cNvSpPr>
            <a:spLocks noGrp="1"/>
          </p:cNvSpPr>
          <p:nvPr/>
        </p:nvSpPr>
        <p:spPr>
          <a:xfrm>
            <a:off x="9144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grid_v_6">
            <a:extLst>
              <a:ext uri="{FF2B5EF4-FFF2-40B4-BE49-F238E27FC236}">
                <a16:creationId xmlns:a16="http://schemas.microsoft.com/office/drawing/2014/main" id="{18D36443-5B15-4C7E-BB2E-E5542767A621}"/>
              </a:ext>
            </a:extLst>
          </p:cNvPr>
          <p:cNvSpPr>
            <a:spLocks noGrp="1"/>
          </p:cNvSpPr>
          <p:nvPr/>
        </p:nvSpPr>
        <p:spPr>
          <a:xfrm>
            <a:off x="10763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0C279CEA-77BA-497B-A348-B50CBC8CDF71}"/>
              </a:ext>
            </a:extLst>
          </p:cNvPr>
          <p:cNvSpPr>
            <a:spLocks noGrp="1"/>
          </p:cNvSpPr>
          <p:nvPr/>
        </p:nvSpPr>
        <p:spPr>
          <a:xfrm>
            <a:off x="914400" y="533400"/>
            <a:ext cx="419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TWO-DAY SWING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489B311-E0E9-43C7-AC7D-647F07DD9413}"/>
              </a:ext>
            </a:extLst>
          </p:cNvPr>
          <p:cNvSpPr>
            <a:spLocks noGrp="1"/>
          </p:cNvSpPr>
          <p:nvPr/>
        </p:nvSpPr>
        <p:spPr>
          <a:xfrm>
            <a:off x="914400" y="838200"/>
            <a:ext cx="7620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6月8日释放风险，6月9日成长修复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C7336E03-FE5D-4ADB-B1E5-426FDD5EC0EE}"/>
              </a:ext>
            </a:extLst>
          </p:cNvPr>
          <p:cNvSpPr>
            <a:spLocks noGrp="1"/>
          </p:cNvSpPr>
          <p:nvPr/>
        </p:nvSpPr>
        <p:spPr>
          <a:xfrm>
            <a:off x="933450" y="142875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同一组指数，两天内完成从集体下挫到高弹反攻的切换。</a:t>
            </a:r>
          </a:p>
        </p:txBody>
      </p:sp>
      <p:sp>
        <p:nvSpPr>
          <p:cNvPr id="12" name="signal_bar">
            <a:extLst>
              <a:ext uri="{FF2B5EF4-FFF2-40B4-BE49-F238E27FC236}">
                <a16:creationId xmlns:a16="http://schemas.microsoft.com/office/drawing/2014/main" id="{94B9EE6C-7761-40DB-ADF8-DC58234E678C}"/>
              </a:ext>
            </a:extLst>
          </p:cNvPr>
          <p:cNvSpPr>
            <a:spLocks noGrp="1"/>
          </p:cNvSpPr>
          <p:nvPr/>
        </p:nvSpPr>
        <p:spPr>
          <a:xfrm>
            <a:off x="3886200" y="5962650"/>
            <a:ext cx="2324100" cy="47625"/>
          </a:xfrm>
          <a:prstGeom prst="roundRect">
            <a:avLst>
              <a:gd name="adj" fmla="val 50000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ignal_tail">
            <a:extLst>
              <a:ext uri="{FF2B5EF4-FFF2-40B4-BE49-F238E27FC236}">
                <a16:creationId xmlns:a16="http://schemas.microsoft.com/office/drawing/2014/main" id="{757FFD04-3BEA-4AA1-A5C4-B97E9F32686D}"/>
              </a:ext>
            </a:extLst>
          </p:cNvPr>
          <p:cNvSpPr>
            <a:spLocks noGrp="1"/>
          </p:cNvSpPr>
          <p:nvPr/>
        </p:nvSpPr>
        <p:spPr>
          <a:xfrm>
            <a:off x="6305550" y="5981700"/>
            <a:ext cx="55245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left_date">
            <a:extLst>
              <a:ext uri="{FF2B5EF4-FFF2-40B4-BE49-F238E27FC236}">
                <a16:creationId xmlns:a16="http://schemas.microsoft.com/office/drawing/2014/main" id="{E93288F6-B2D7-4E5B-B61F-A39F786AC295}"/>
              </a:ext>
            </a:extLst>
          </p:cNvPr>
          <p:cNvSpPr>
            <a:spLocks noGrp="1"/>
          </p:cNvSpPr>
          <p:nvPr/>
        </p:nvSpPr>
        <p:spPr>
          <a:xfrm>
            <a:off x="1352550" y="2190750"/>
            <a:ext cx="114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06.08</a:t>
            </a:r>
          </a:p>
        </p:txBody>
      </p:sp>
      <p:sp>
        <p:nvSpPr>
          <p:cNvPr id="15" name="right_date">
            <a:extLst>
              <a:ext uri="{FF2B5EF4-FFF2-40B4-BE49-F238E27FC236}">
                <a16:creationId xmlns:a16="http://schemas.microsoft.com/office/drawing/2014/main" id="{3D0C0D45-AEF8-4330-A0A0-CB21F9C796EB}"/>
              </a:ext>
            </a:extLst>
          </p:cNvPr>
          <p:cNvSpPr>
            <a:spLocks noGrp="1"/>
          </p:cNvSpPr>
          <p:nvPr/>
        </p:nvSpPr>
        <p:spPr>
          <a:xfrm>
            <a:off x="9677400" y="2190750"/>
            <a:ext cx="114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06.09</a:t>
            </a:r>
          </a:p>
        </p:txBody>
      </p:sp>
      <p:sp>
        <p:nvSpPr>
          <p:cNvPr id="16" name="left_label">
            <a:extLst>
              <a:ext uri="{FF2B5EF4-FFF2-40B4-BE49-F238E27FC236}">
                <a16:creationId xmlns:a16="http://schemas.microsoft.com/office/drawing/2014/main" id="{4394E91C-A7A9-4D3C-B0C5-F3EE1A803B02}"/>
              </a:ext>
            </a:extLst>
          </p:cNvPr>
          <p:cNvSpPr>
            <a:spLocks noGrp="1"/>
          </p:cNvSpPr>
          <p:nvPr/>
        </p:nvSpPr>
        <p:spPr>
          <a:xfrm>
            <a:off x="1562100" y="25717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跌幅</a:t>
            </a:r>
          </a:p>
        </p:txBody>
      </p:sp>
      <p:sp>
        <p:nvSpPr>
          <p:cNvPr id="17" name="right_label">
            <a:extLst>
              <a:ext uri="{FF2B5EF4-FFF2-40B4-BE49-F238E27FC236}">
                <a16:creationId xmlns:a16="http://schemas.microsoft.com/office/drawing/2014/main" id="{4C3EC616-9908-443D-B945-BF7AE654169A}"/>
              </a:ext>
            </a:extLst>
          </p:cNvPr>
          <p:cNvSpPr>
            <a:spLocks noGrp="1"/>
          </p:cNvSpPr>
          <p:nvPr/>
        </p:nvSpPr>
        <p:spPr>
          <a:xfrm>
            <a:off x="9896475" y="2571750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涨幅</a:t>
            </a:r>
          </a:p>
        </p:txBody>
      </p:sp>
      <p:sp>
        <p:nvSpPr>
          <p:cNvPr id="18" name="idx_0">
            <a:extLst>
              <a:ext uri="{FF2B5EF4-FFF2-40B4-BE49-F238E27FC236}">
                <a16:creationId xmlns:a16="http://schemas.microsoft.com/office/drawing/2014/main" id="{85CE6567-2826-45F7-84D1-0BE3851CEC8A}"/>
              </a:ext>
            </a:extLst>
          </p:cNvPr>
          <p:cNvSpPr>
            <a:spLocks noGrp="1"/>
          </p:cNvSpPr>
          <p:nvPr/>
        </p:nvSpPr>
        <p:spPr>
          <a:xfrm>
            <a:off x="5543550" y="311467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上证</a:t>
            </a:r>
          </a:p>
        </p:txBody>
      </p:sp>
      <p:sp>
        <p:nvSpPr>
          <p:cNvPr id="19" name="down_bar_0">
            <a:extLst>
              <a:ext uri="{FF2B5EF4-FFF2-40B4-BE49-F238E27FC236}">
                <a16:creationId xmlns:a16="http://schemas.microsoft.com/office/drawing/2014/main" id="{5AC1D653-6BE0-47C0-A4B8-96B951354E17}"/>
              </a:ext>
            </a:extLst>
          </p:cNvPr>
          <p:cNvSpPr>
            <a:spLocks noGrp="1"/>
          </p:cNvSpPr>
          <p:nvPr/>
        </p:nvSpPr>
        <p:spPr>
          <a:xfrm>
            <a:off x="4297680" y="3143250"/>
            <a:ext cx="1036320" cy="171450"/>
          </a:xfrm>
          <a:prstGeom prst="roundRect">
            <a:avLst>
              <a:gd name="adj" fmla="val 44444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up_bar_0">
            <a:extLst>
              <a:ext uri="{FF2B5EF4-FFF2-40B4-BE49-F238E27FC236}">
                <a16:creationId xmlns:a16="http://schemas.microsoft.com/office/drawing/2014/main" id="{CBC2E1C3-FE75-4C2E-A5D1-61A8A679708A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780288" cy="171450"/>
          </a:xfrm>
          <a:prstGeom prst="roundRect">
            <a:avLst>
              <a:gd name="adj" fmla="val 44444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down_pct_0">
            <a:extLst>
              <a:ext uri="{FF2B5EF4-FFF2-40B4-BE49-F238E27FC236}">
                <a16:creationId xmlns:a16="http://schemas.microsoft.com/office/drawing/2014/main" id="{BC7F4C72-ED24-4902-800D-76A878842BF0}"/>
              </a:ext>
            </a:extLst>
          </p:cNvPr>
          <p:cNvSpPr>
            <a:spLocks noGrp="1"/>
          </p:cNvSpPr>
          <p:nvPr/>
        </p:nvSpPr>
        <p:spPr>
          <a:xfrm>
            <a:off x="4145280" y="3124200"/>
            <a:ext cx="70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-1.70%</a:t>
            </a:r>
          </a:p>
        </p:txBody>
      </p:sp>
      <p:sp>
        <p:nvSpPr>
          <p:cNvPr id="22" name="up_pct_0">
            <a:extLst>
              <a:ext uri="{FF2B5EF4-FFF2-40B4-BE49-F238E27FC236}">
                <a16:creationId xmlns:a16="http://schemas.microsoft.com/office/drawing/2014/main" id="{CB3EB7B5-72D7-4D53-8C5C-6E1EE9139C11}"/>
              </a:ext>
            </a:extLst>
          </p:cNvPr>
          <p:cNvSpPr>
            <a:spLocks noGrp="1"/>
          </p:cNvSpPr>
          <p:nvPr/>
        </p:nvSpPr>
        <p:spPr>
          <a:xfrm>
            <a:off x="7752588" y="31242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+1.28%</a:t>
            </a:r>
          </a:p>
        </p:txBody>
      </p:sp>
      <p:sp>
        <p:nvSpPr>
          <p:cNvPr id="23" name="idx_1">
            <a:extLst>
              <a:ext uri="{FF2B5EF4-FFF2-40B4-BE49-F238E27FC236}">
                <a16:creationId xmlns:a16="http://schemas.microsoft.com/office/drawing/2014/main" id="{9D51C5B2-B153-46DF-823A-BE86DB7A3F00}"/>
              </a:ext>
            </a:extLst>
          </p:cNvPr>
          <p:cNvSpPr>
            <a:spLocks noGrp="1"/>
          </p:cNvSpPr>
          <p:nvPr/>
        </p:nvSpPr>
        <p:spPr>
          <a:xfrm>
            <a:off x="5543550" y="360997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深成</a:t>
            </a:r>
          </a:p>
        </p:txBody>
      </p:sp>
      <p:sp>
        <p:nvSpPr>
          <p:cNvPr id="24" name="down_bar_1">
            <a:extLst>
              <a:ext uri="{FF2B5EF4-FFF2-40B4-BE49-F238E27FC236}">
                <a16:creationId xmlns:a16="http://schemas.microsoft.com/office/drawing/2014/main" id="{E6ACA689-D38E-4A07-8A85-FC47ADB7E9D3}"/>
              </a:ext>
            </a:extLst>
          </p:cNvPr>
          <p:cNvSpPr>
            <a:spLocks noGrp="1"/>
          </p:cNvSpPr>
          <p:nvPr/>
        </p:nvSpPr>
        <p:spPr>
          <a:xfrm>
            <a:off x="3371088" y="3638550"/>
            <a:ext cx="1962912" cy="171450"/>
          </a:xfrm>
          <a:prstGeom prst="roundRect">
            <a:avLst>
              <a:gd name="adj" fmla="val 44444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up_bar_1">
            <a:extLst>
              <a:ext uri="{FF2B5EF4-FFF2-40B4-BE49-F238E27FC236}">
                <a16:creationId xmlns:a16="http://schemas.microsoft.com/office/drawing/2014/main" id="{627805EB-8330-46B8-B786-0C883E028D32}"/>
              </a:ext>
            </a:extLst>
          </p:cNvPr>
          <p:cNvSpPr>
            <a:spLocks noGrp="1"/>
          </p:cNvSpPr>
          <p:nvPr/>
        </p:nvSpPr>
        <p:spPr>
          <a:xfrm>
            <a:off x="6858000" y="3638550"/>
            <a:ext cx="1840992" cy="171450"/>
          </a:xfrm>
          <a:prstGeom prst="roundRect">
            <a:avLst>
              <a:gd name="adj" fmla="val 44444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down_pct_1">
            <a:extLst>
              <a:ext uri="{FF2B5EF4-FFF2-40B4-BE49-F238E27FC236}">
                <a16:creationId xmlns:a16="http://schemas.microsoft.com/office/drawing/2014/main" id="{EA11EA4A-DBBD-4E8B-807F-44763C4B2DC5}"/>
              </a:ext>
            </a:extLst>
          </p:cNvPr>
          <p:cNvSpPr>
            <a:spLocks noGrp="1"/>
          </p:cNvSpPr>
          <p:nvPr/>
        </p:nvSpPr>
        <p:spPr>
          <a:xfrm>
            <a:off x="3218688" y="3619500"/>
            <a:ext cx="70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-3.22%</a:t>
            </a:r>
          </a:p>
        </p:txBody>
      </p:sp>
      <p:sp>
        <p:nvSpPr>
          <p:cNvPr id="27" name="up_pct_1">
            <a:extLst>
              <a:ext uri="{FF2B5EF4-FFF2-40B4-BE49-F238E27FC236}">
                <a16:creationId xmlns:a16="http://schemas.microsoft.com/office/drawing/2014/main" id="{EB1082C2-159E-46F5-AC0F-93DEE53DBAFC}"/>
              </a:ext>
            </a:extLst>
          </p:cNvPr>
          <p:cNvSpPr>
            <a:spLocks noGrp="1"/>
          </p:cNvSpPr>
          <p:nvPr/>
        </p:nvSpPr>
        <p:spPr>
          <a:xfrm>
            <a:off x="8813292" y="36195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+3.02%</a:t>
            </a:r>
          </a:p>
        </p:txBody>
      </p:sp>
      <p:sp>
        <p:nvSpPr>
          <p:cNvPr id="28" name="idx_2">
            <a:extLst>
              <a:ext uri="{FF2B5EF4-FFF2-40B4-BE49-F238E27FC236}">
                <a16:creationId xmlns:a16="http://schemas.microsoft.com/office/drawing/2014/main" id="{91A6FF57-8059-47C6-916E-B8078C6803BF}"/>
              </a:ext>
            </a:extLst>
          </p:cNvPr>
          <p:cNvSpPr>
            <a:spLocks noGrp="1"/>
          </p:cNvSpPr>
          <p:nvPr/>
        </p:nvSpPr>
        <p:spPr>
          <a:xfrm>
            <a:off x="5543550" y="410527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创业板</a:t>
            </a:r>
          </a:p>
        </p:txBody>
      </p:sp>
      <p:sp>
        <p:nvSpPr>
          <p:cNvPr id="29" name="down_bar_2">
            <a:extLst>
              <a:ext uri="{FF2B5EF4-FFF2-40B4-BE49-F238E27FC236}">
                <a16:creationId xmlns:a16="http://schemas.microsoft.com/office/drawing/2014/main" id="{EDD7AA1F-0791-42C4-9231-86D4DA805C14}"/>
              </a:ext>
            </a:extLst>
          </p:cNvPr>
          <p:cNvSpPr>
            <a:spLocks noGrp="1"/>
          </p:cNvSpPr>
          <p:nvPr/>
        </p:nvSpPr>
        <p:spPr>
          <a:xfrm>
            <a:off x="3084576" y="4133850"/>
            <a:ext cx="2249424" cy="171450"/>
          </a:xfrm>
          <a:prstGeom prst="roundRect">
            <a:avLst>
              <a:gd name="adj" fmla="val 44444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up_bar_2">
            <a:extLst>
              <a:ext uri="{FF2B5EF4-FFF2-40B4-BE49-F238E27FC236}">
                <a16:creationId xmlns:a16="http://schemas.microsoft.com/office/drawing/2014/main" id="{70E80702-9FFE-41E0-A536-742AD8234D64}"/>
              </a:ext>
            </a:extLst>
          </p:cNvPr>
          <p:cNvSpPr>
            <a:spLocks noGrp="1"/>
          </p:cNvSpPr>
          <p:nvPr/>
        </p:nvSpPr>
        <p:spPr>
          <a:xfrm>
            <a:off x="6858000" y="4133850"/>
            <a:ext cx="2395728" cy="171450"/>
          </a:xfrm>
          <a:prstGeom prst="roundRect">
            <a:avLst>
              <a:gd name="adj" fmla="val 44444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down_pct_2">
            <a:extLst>
              <a:ext uri="{FF2B5EF4-FFF2-40B4-BE49-F238E27FC236}">
                <a16:creationId xmlns:a16="http://schemas.microsoft.com/office/drawing/2014/main" id="{251EC35C-8CBB-443F-B3B4-A9034E045B01}"/>
              </a:ext>
            </a:extLst>
          </p:cNvPr>
          <p:cNvSpPr>
            <a:spLocks noGrp="1"/>
          </p:cNvSpPr>
          <p:nvPr/>
        </p:nvSpPr>
        <p:spPr>
          <a:xfrm>
            <a:off x="2932176" y="4114800"/>
            <a:ext cx="70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-3.69%</a:t>
            </a:r>
          </a:p>
        </p:txBody>
      </p:sp>
      <p:sp>
        <p:nvSpPr>
          <p:cNvPr id="32" name="up_pct_2">
            <a:extLst>
              <a:ext uri="{FF2B5EF4-FFF2-40B4-BE49-F238E27FC236}">
                <a16:creationId xmlns:a16="http://schemas.microsoft.com/office/drawing/2014/main" id="{49BE9829-10E7-44F1-8AE9-16D5D5F6A88F}"/>
              </a:ext>
            </a:extLst>
          </p:cNvPr>
          <p:cNvSpPr>
            <a:spLocks noGrp="1"/>
          </p:cNvSpPr>
          <p:nvPr/>
        </p:nvSpPr>
        <p:spPr>
          <a:xfrm>
            <a:off x="9368028" y="41148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+3.93%</a:t>
            </a:r>
          </a:p>
        </p:txBody>
      </p:sp>
      <p:sp>
        <p:nvSpPr>
          <p:cNvPr id="33" name="idx_3">
            <a:extLst>
              <a:ext uri="{FF2B5EF4-FFF2-40B4-BE49-F238E27FC236}">
                <a16:creationId xmlns:a16="http://schemas.microsoft.com/office/drawing/2014/main" id="{D919E82E-54E1-47C9-AE9E-111FC4B74884}"/>
              </a:ext>
            </a:extLst>
          </p:cNvPr>
          <p:cNvSpPr>
            <a:spLocks noGrp="1"/>
          </p:cNvSpPr>
          <p:nvPr/>
        </p:nvSpPr>
        <p:spPr>
          <a:xfrm>
            <a:off x="5543550" y="460057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沪深300</a:t>
            </a:r>
          </a:p>
        </p:txBody>
      </p:sp>
      <p:sp>
        <p:nvSpPr>
          <p:cNvPr id="34" name="down_bar_3">
            <a:extLst>
              <a:ext uri="{FF2B5EF4-FFF2-40B4-BE49-F238E27FC236}">
                <a16:creationId xmlns:a16="http://schemas.microsoft.com/office/drawing/2014/main" id="{3E64503A-60C3-4E42-998E-CA6D6F9E55F5}"/>
              </a:ext>
            </a:extLst>
          </p:cNvPr>
          <p:cNvSpPr>
            <a:spLocks noGrp="1"/>
          </p:cNvSpPr>
          <p:nvPr/>
        </p:nvSpPr>
        <p:spPr>
          <a:xfrm>
            <a:off x="4029456" y="4629150"/>
            <a:ext cx="1304544" cy="171450"/>
          </a:xfrm>
          <a:prstGeom prst="roundRect">
            <a:avLst>
              <a:gd name="adj" fmla="val 44444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up_bar_3">
            <a:extLst>
              <a:ext uri="{FF2B5EF4-FFF2-40B4-BE49-F238E27FC236}">
                <a16:creationId xmlns:a16="http://schemas.microsoft.com/office/drawing/2014/main" id="{37398BDC-7042-4ABE-A471-3E7F213B8FBA}"/>
              </a:ext>
            </a:extLst>
          </p:cNvPr>
          <p:cNvSpPr>
            <a:spLocks noGrp="1"/>
          </p:cNvSpPr>
          <p:nvPr/>
        </p:nvSpPr>
        <p:spPr>
          <a:xfrm>
            <a:off x="6858000" y="4629150"/>
            <a:ext cx="1139952" cy="171450"/>
          </a:xfrm>
          <a:prstGeom prst="roundRect">
            <a:avLst>
              <a:gd name="adj" fmla="val 44444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down_pct_3">
            <a:extLst>
              <a:ext uri="{FF2B5EF4-FFF2-40B4-BE49-F238E27FC236}">
                <a16:creationId xmlns:a16="http://schemas.microsoft.com/office/drawing/2014/main" id="{CBAAF9B5-9567-45D0-8C7E-1724FD0A930D}"/>
              </a:ext>
            </a:extLst>
          </p:cNvPr>
          <p:cNvSpPr>
            <a:spLocks noGrp="1"/>
          </p:cNvSpPr>
          <p:nvPr/>
        </p:nvSpPr>
        <p:spPr>
          <a:xfrm>
            <a:off x="3877056" y="4610100"/>
            <a:ext cx="70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-2.14%</a:t>
            </a:r>
          </a:p>
        </p:txBody>
      </p:sp>
      <p:sp>
        <p:nvSpPr>
          <p:cNvPr id="37" name="up_pct_3">
            <a:extLst>
              <a:ext uri="{FF2B5EF4-FFF2-40B4-BE49-F238E27FC236}">
                <a16:creationId xmlns:a16="http://schemas.microsoft.com/office/drawing/2014/main" id="{ECA29FE1-D8F1-430F-9A35-1EFDCDF33C0F}"/>
              </a:ext>
            </a:extLst>
          </p:cNvPr>
          <p:cNvSpPr>
            <a:spLocks noGrp="1"/>
          </p:cNvSpPr>
          <p:nvPr/>
        </p:nvSpPr>
        <p:spPr>
          <a:xfrm>
            <a:off x="8112252" y="46101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+1.87%</a:t>
            </a:r>
          </a:p>
        </p:txBody>
      </p:sp>
      <p:sp>
        <p:nvSpPr>
          <p:cNvPr id="38" name="idx_4">
            <a:extLst>
              <a:ext uri="{FF2B5EF4-FFF2-40B4-BE49-F238E27FC236}">
                <a16:creationId xmlns:a16="http://schemas.microsoft.com/office/drawing/2014/main" id="{312EA86E-2562-485B-BBCD-D1841D70D831}"/>
              </a:ext>
            </a:extLst>
          </p:cNvPr>
          <p:cNvSpPr>
            <a:spLocks noGrp="1"/>
          </p:cNvSpPr>
          <p:nvPr/>
        </p:nvSpPr>
        <p:spPr>
          <a:xfrm>
            <a:off x="5543550" y="5095875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科创50</a:t>
            </a:r>
          </a:p>
        </p:txBody>
      </p:sp>
      <p:sp>
        <p:nvSpPr>
          <p:cNvPr id="39" name="down_bar_4">
            <a:extLst>
              <a:ext uri="{FF2B5EF4-FFF2-40B4-BE49-F238E27FC236}">
                <a16:creationId xmlns:a16="http://schemas.microsoft.com/office/drawing/2014/main" id="{7A5BD9EA-D637-4BFD-A9DE-1C6D7E167E02}"/>
              </a:ext>
            </a:extLst>
          </p:cNvPr>
          <p:cNvSpPr>
            <a:spLocks noGrp="1"/>
          </p:cNvSpPr>
          <p:nvPr/>
        </p:nvSpPr>
        <p:spPr>
          <a:xfrm>
            <a:off x="2712720" y="5124450"/>
            <a:ext cx="2621280" cy="171450"/>
          </a:xfrm>
          <a:prstGeom prst="roundRect">
            <a:avLst>
              <a:gd name="adj" fmla="val 44444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up_bar_4">
            <a:extLst>
              <a:ext uri="{FF2B5EF4-FFF2-40B4-BE49-F238E27FC236}">
                <a16:creationId xmlns:a16="http://schemas.microsoft.com/office/drawing/2014/main" id="{2CBF9FA4-EEF8-4C07-8612-1C9729894FBE}"/>
              </a:ext>
            </a:extLst>
          </p:cNvPr>
          <p:cNvSpPr>
            <a:spLocks noGrp="1"/>
          </p:cNvSpPr>
          <p:nvPr/>
        </p:nvSpPr>
        <p:spPr>
          <a:xfrm>
            <a:off x="6858000" y="5124450"/>
            <a:ext cx="2542032" cy="171450"/>
          </a:xfrm>
          <a:prstGeom prst="roundRect">
            <a:avLst>
              <a:gd name="adj" fmla="val 44444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down_pct_4">
            <a:extLst>
              <a:ext uri="{FF2B5EF4-FFF2-40B4-BE49-F238E27FC236}">
                <a16:creationId xmlns:a16="http://schemas.microsoft.com/office/drawing/2014/main" id="{083C5769-FFA4-4DE8-A29B-37F5475A23A8}"/>
              </a:ext>
            </a:extLst>
          </p:cNvPr>
          <p:cNvSpPr>
            <a:spLocks noGrp="1"/>
          </p:cNvSpPr>
          <p:nvPr/>
        </p:nvSpPr>
        <p:spPr>
          <a:xfrm>
            <a:off x="2560320" y="5105400"/>
            <a:ext cx="70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-4.30%</a:t>
            </a:r>
          </a:p>
        </p:txBody>
      </p:sp>
      <p:sp>
        <p:nvSpPr>
          <p:cNvPr id="42" name="up_pct_4">
            <a:extLst>
              <a:ext uri="{FF2B5EF4-FFF2-40B4-BE49-F238E27FC236}">
                <a16:creationId xmlns:a16="http://schemas.microsoft.com/office/drawing/2014/main" id="{C15A0CBB-AA00-47E4-84D5-709FA959A80F}"/>
              </a:ext>
            </a:extLst>
          </p:cNvPr>
          <p:cNvSpPr>
            <a:spLocks noGrp="1"/>
          </p:cNvSpPr>
          <p:nvPr/>
        </p:nvSpPr>
        <p:spPr>
          <a:xfrm>
            <a:off x="9514332" y="51054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+4.17%</a:t>
            </a:r>
          </a:p>
        </p:txBody>
      </p:sp>
      <p:sp>
        <p:nvSpPr>
          <p:cNvPr id="43" name="axis_zero">
            <a:extLst>
              <a:ext uri="{FF2B5EF4-FFF2-40B4-BE49-F238E27FC236}">
                <a16:creationId xmlns:a16="http://schemas.microsoft.com/office/drawing/2014/main" id="{327EDB89-D50E-40AE-A0CF-A7596F5C4870}"/>
              </a:ext>
            </a:extLst>
          </p:cNvPr>
          <p:cNvSpPr>
            <a:spLocks noGrp="1"/>
          </p:cNvSpPr>
          <p:nvPr/>
        </p:nvSpPr>
        <p:spPr>
          <a:xfrm>
            <a:off x="6086475" y="2952750"/>
            <a:ext cx="19050" cy="2667000"/>
          </a:xfrm>
          <a:prstGeom prst="rect">
            <a:avLst/>
          </a:prstGeom>
          <a:solidFill>
            <a:srgbClr val="FFFFFF">
              <a:alpha val="2666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claim">
            <a:extLst>
              <a:ext uri="{FF2B5EF4-FFF2-40B4-BE49-F238E27FC236}">
                <a16:creationId xmlns:a16="http://schemas.microsoft.com/office/drawing/2014/main" id="{BE4D4D62-B9F7-4265-B9BB-39BDEDE3818D}"/>
              </a:ext>
            </a:extLst>
          </p:cNvPr>
          <p:cNvSpPr>
            <a:spLocks noGrp="1"/>
          </p:cNvSpPr>
          <p:nvPr/>
        </p:nvSpPr>
        <p:spPr>
          <a:xfrm>
            <a:off x="2381250" y="5543550"/>
            <a:ext cx="742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科创50与创业板反弹更强，说明修复的弹性主要来自成长资产。</a:t>
            </a:r>
          </a:p>
        </p:txBody>
      </p:sp>
      <p:sp>
        <p:nvSpPr>
          <p:cNvPr id="45" name="footer_rule">
            <a:extLst>
              <a:ext uri="{FF2B5EF4-FFF2-40B4-BE49-F238E27FC236}">
                <a16:creationId xmlns:a16="http://schemas.microsoft.com/office/drawing/2014/main" id="{66D1EE59-3D2B-4055-826F-24EECE118EBE}"/>
              </a:ext>
            </a:extLst>
          </p:cNvPr>
          <p:cNvSpPr>
            <a:spLocks noGrp="1"/>
          </p:cNvSpPr>
          <p:nvPr/>
        </p:nvSpPr>
        <p:spPr>
          <a:xfrm>
            <a:off x="914400" y="6229350"/>
            <a:ext cx="10363200" cy="11430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footer_source">
            <a:extLst>
              <a:ext uri="{FF2B5EF4-FFF2-40B4-BE49-F238E27FC236}">
                <a16:creationId xmlns:a16="http://schemas.microsoft.com/office/drawing/2014/main" id="{47755F06-375D-4725-8595-B4BB0EA80B9F}"/>
              </a:ext>
            </a:extLst>
          </p:cNvPr>
          <p:cNvSpPr>
            <a:spLocks noGrp="1"/>
          </p:cNvSpPr>
          <p:nvPr/>
        </p:nvSpPr>
        <p:spPr>
          <a:xfrm>
            <a:off x="914400" y="63627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单日涨跌幅来自同花顺财经 2026.06.08 / 2026.06.09 A股每日行情复盘</a:t>
            </a:r>
          </a:p>
        </p:txBody>
      </p:sp>
      <p:sp>
        <p:nvSpPr>
          <p:cNvPr id="47" name="as_of">
            <a:extLst>
              <a:ext uri="{FF2B5EF4-FFF2-40B4-BE49-F238E27FC236}">
                <a16:creationId xmlns:a16="http://schemas.microsoft.com/office/drawing/2014/main" id="{438DE5C5-8D8C-4F1E-9AA2-76B3CEDD98DC}"/>
              </a:ext>
            </a:extLst>
          </p:cNvPr>
          <p:cNvSpPr>
            <a:spLocks noGrp="1"/>
          </p:cNvSpPr>
          <p:nvPr/>
        </p:nvSpPr>
        <p:spPr>
          <a:xfrm>
            <a:off x="9810750" y="63627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2026.06.09 收盘</a:t>
            </a:r>
          </a:p>
        </p:txBody>
      </p:sp>
    </p:spTree>
    <p:extLst>
      <p:ext uri="{BB962C8B-B14F-4D97-AF65-F5344CB8AC3E}">
        <p14:creationId xmlns:p14="http://schemas.microsoft.com/office/powerpoint/2010/main" val="2023563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ackground">
            <a:extLst>
              <a:ext uri="{FF2B5EF4-FFF2-40B4-BE49-F238E27FC236}">
                <a16:creationId xmlns:a16="http://schemas.microsoft.com/office/drawing/2014/main" id="{C824C6B5-7635-4584-8A5E-667BBAAD9C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_v_0">
            <a:extLst>
              <a:ext uri="{FF2B5EF4-FFF2-40B4-BE49-F238E27FC236}">
                <a16:creationId xmlns:a16="http://schemas.microsoft.com/office/drawing/2014/main" id="{AC3CD260-10A5-485D-A836-C1C4076B124E}"/>
              </a:ext>
            </a:extLst>
          </p:cNvPr>
          <p:cNvSpPr>
            <a:spLocks noGrp="1"/>
          </p:cNvSpPr>
          <p:nvPr/>
        </p:nvSpPr>
        <p:spPr>
          <a:xfrm>
            <a:off x="1047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grid_v_1">
            <a:extLst>
              <a:ext uri="{FF2B5EF4-FFF2-40B4-BE49-F238E27FC236}">
                <a16:creationId xmlns:a16="http://schemas.microsoft.com/office/drawing/2014/main" id="{BC621D21-B929-4BC7-AC4A-3F91EF2D3C59}"/>
              </a:ext>
            </a:extLst>
          </p:cNvPr>
          <p:cNvSpPr>
            <a:spLocks noGrp="1"/>
          </p:cNvSpPr>
          <p:nvPr/>
        </p:nvSpPr>
        <p:spPr>
          <a:xfrm>
            <a:off x="2667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grid_v_2">
            <a:extLst>
              <a:ext uri="{FF2B5EF4-FFF2-40B4-BE49-F238E27FC236}">
                <a16:creationId xmlns:a16="http://schemas.microsoft.com/office/drawing/2014/main" id="{778DCD2D-0F88-4DAE-9886-05D6304A72AD}"/>
              </a:ext>
            </a:extLst>
          </p:cNvPr>
          <p:cNvSpPr>
            <a:spLocks noGrp="1"/>
          </p:cNvSpPr>
          <p:nvPr/>
        </p:nvSpPr>
        <p:spPr>
          <a:xfrm>
            <a:off x="4286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grid_v_3">
            <a:extLst>
              <a:ext uri="{FF2B5EF4-FFF2-40B4-BE49-F238E27FC236}">
                <a16:creationId xmlns:a16="http://schemas.microsoft.com/office/drawing/2014/main" id="{FBB409FF-F7EE-4F74-87AF-1A1EE7C3A5A7}"/>
              </a:ext>
            </a:extLst>
          </p:cNvPr>
          <p:cNvSpPr>
            <a:spLocks noGrp="1"/>
          </p:cNvSpPr>
          <p:nvPr/>
        </p:nvSpPr>
        <p:spPr>
          <a:xfrm>
            <a:off x="59055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grid_v_4">
            <a:extLst>
              <a:ext uri="{FF2B5EF4-FFF2-40B4-BE49-F238E27FC236}">
                <a16:creationId xmlns:a16="http://schemas.microsoft.com/office/drawing/2014/main" id="{42B20640-DCAF-411D-B3C6-6FBEE46ECE95}"/>
              </a:ext>
            </a:extLst>
          </p:cNvPr>
          <p:cNvSpPr>
            <a:spLocks noGrp="1"/>
          </p:cNvSpPr>
          <p:nvPr/>
        </p:nvSpPr>
        <p:spPr>
          <a:xfrm>
            <a:off x="7524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grid_v_5">
            <a:extLst>
              <a:ext uri="{FF2B5EF4-FFF2-40B4-BE49-F238E27FC236}">
                <a16:creationId xmlns:a16="http://schemas.microsoft.com/office/drawing/2014/main" id="{548B229C-7909-4448-8518-5964363DF26B}"/>
              </a:ext>
            </a:extLst>
          </p:cNvPr>
          <p:cNvSpPr>
            <a:spLocks noGrp="1"/>
          </p:cNvSpPr>
          <p:nvPr/>
        </p:nvSpPr>
        <p:spPr>
          <a:xfrm>
            <a:off x="9144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grid_v_6">
            <a:extLst>
              <a:ext uri="{FF2B5EF4-FFF2-40B4-BE49-F238E27FC236}">
                <a16:creationId xmlns:a16="http://schemas.microsoft.com/office/drawing/2014/main" id="{E5287041-95B0-463E-937D-9FDDDCC394A0}"/>
              </a:ext>
            </a:extLst>
          </p:cNvPr>
          <p:cNvSpPr>
            <a:spLocks noGrp="1"/>
          </p:cNvSpPr>
          <p:nvPr/>
        </p:nvSpPr>
        <p:spPr>
          <a:xfrm>
            <a:off x="10763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FE1BDF92-0376-46F3-930A-8DD6A68A6715}"/>
              </a:ext>
            </a:extLst>
          </p:cNvPr>
          <p:cNvSpPr>
            <a:spLocks noGrp="1"/>
          </p:cNvSpPr>
          <p:nvPr/>
        </p:nvSpPr>
        <p:spPr>
          <a:xfrm>
            <a:off x="914400" y="533400"/>
            <a:ext cx="419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SECTOR LEADERSHIP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4B1BA607-7C00-402A-B80E-F2CCAEA714D2}"/>
              </a:ext>
            </a:extLst>
          </p:cNvPr>
          <p:cNvSpPr>
            <a:spLocks noGrp="1"/>
          </p:cNvSpPr>
          <p:nvPr/>
        </p:nvSpPr>
        <p:spPr>
          <a:xfrm>
            <a:off x="914400" y="838200"/>
            <a:ext cx="7620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资金回到科技链，而不是平均扩散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5CA08652-1FC9-4C55-809C-522A1E9C6B9C}"/>
              </a:ext>
            </a:extLst>
          </p:cNvPr>
          <p:cNvSpPr>
            <a:spLocks noGrp="1"/>
          </p:cNvSpPr>
          <p:nvPr/>
        </p:nvSpPr>
        <p:spPr>
          <a:xfrm>
            <a:off x="933450" y="142875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6月9日上涨行业中，电子、半导体、元件、通信设备、电池排在前列。</a:t>
            </a:r>
          </a:p>
        </p:txBody>
      </p:sp>
      <p:sp>
        <p:nvSpPr>
          <p:cNvPr id="12" name="signal_bar">
            <a:extLst>
              <a:ext uri="{FF2B5EF4-FFF2-40B4-BE49-F238E27FC236}">
                <a16:creationId xmlns:a16="http://schemas.microsoft.com/office/drawing/2014/main" id="{5EF535F4-4E5A-4080-9FF7-8825B41FCD5F}"/>
              </a:ext>
            </a:extLst>
          </p:cNvPr>
          <p:cNvSpPr>
            <a:spLocks noGrp="1"/>
          </p:cNvSpPr>
          <p:nvPr/>
        </p:nvSpPr>
        <p:spPr>
          <a:xfrm>
            <a:off x="5029200" y="5962650"/>
            <a:ext cx="2476500" cy="47625"/>
          </a:xfrm>
          <a:prstGeom prst="roundRect">
            <a:avLst>
              <a:gd name="adj" fmla="val 50000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ignal_tail">
            <a:extLst>
              <a:ext uri="{FF2B5EF4-FFF2-40B4-BE49-F238E27FC236}">
                <a16:creationId xmlns:a16="http://schemas.microsoft.com/office/drawing/2014/main" id="{14888F2F-F32E-4569-8729-6B23D732A764}"/>
              </a:ext>
            </a:extLst>
          </p:cNvPr>
          <p:cNvSpPr>
            <a:spLocks noGrp="1"/>
          </p:cNvSpPr>
          <p:nvPr/>
        </p:nvSpPr>
        <p:spPr>
          <a:xfrm>
            <a:off x="7600950" y="5981700"/>
            <a:ext cx="55245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ector_0">
            <a:extLst>
              <a:ext uri="{FF2B5EF4-FFF2-40B4-BE49-F238E27FC236}">
                <a16:creationId xmlns:a16="http://schemas.microsoft.com/office/drawing/2014/main" id="{D380CD87-6050-42B2-BE01-C34A08CE0CD7}"/>
              </a:ext>
            </a:extLst>
          </p:cNvPr>
          <p:cNvSpPr>
            <a:spLocks noGrp="1"/>
          </p:cNvSpPr>
          <p:nvPr/>
        </p:nvSpPr>
        <p:spPr>
          <a:xfrm>
            <a:off x="1200150" y="23241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电子化学品</a:t>
            </a:r>
          </a:p>
        </p:txBody>
      </p:sp>
      <p:sp>
        <p:nvSpPr>
          <p:cNvPr id="15" name="sector_track_0">
            <a:extLst>
              <a:ext uri="{FF2B5EF4-FFF2-40B4-BE49-F238E27FC236}">
                <a16:creationId xmlns:a16="http://schemas.microsoft.com/office/drawing/2014/main" id="{8B4E774D-11BF-44B4-89E5-5E135EE3E6B1}"/>
              </a:ext>
            </a:extLst>
          </p:cNvPr>
          <p:cNvSpPr>
            <a:spLocks noGrp="1"/>
          </p:cNvSpPr>
          <p:nvPr/>
        </p:nvSpPr>
        <p:spPr>
          <a:xfrm>
            <a:off x="2686050" y="2419350"/>
            <a:ext cx="61912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ector_bar_0">
            <a:extLst>
              <a:ext uri="{FF2B5EF4-FFF2-40B4-BE49-F238E27FC236}">
                <a16:creationId xmlns:a16="http://schemas.microsoft.com/office/drawing/2014/main" id="{76283ACB-7A3D-4853-9743-FD2AA1E624AB}"/>
              </a:ext>
            </a:extLst>
          </p:cNvPr>
          <p:cNvSpPr>
            <a:spLocks noGrp="1"/>
          </p:cNvSpPr>
          <p:nvPr/>
        </p:nvSpPr>
        <p:spPr>
          <a:xfrm>
            <a:off x="2686050" y="2362200"/>
            <a:ext cx="5898421" cy="228600"/>
          </a:xfrm>
          <a:prstGeom prst="roundRect">
            <a:avLst>
              <a:gd name="adj" fmla="val 33333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ector_pct_0">
            <a:extLst>
              <a:ext uri="{FF2B5EF4-FFF2-40B4-BE49-F238E27FC236}">
                <a16:creationId xmlns:a16="http://schemas.microsoft.com/office/drawing/2014/main" id="{B8EFA053-2232-4382-872B-90F9B1D4B5A2}"/>
              </a:ext>
            </a:extLst>
          </p:cNvPr>
          <p:cNvSpPr>
            <a:spLocks noGrp="1"/>
          </p:cNvSpPr>
          <p:nvPr/>
        </p:nvSpPr>
        <p:spPr>
          <a:xfrm>
            <a:off x="9067800" y="2333625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+7.05%</a:t>
            </a:r>
          </a:p>
        </p:txBody>
      </p:sp>
      <p:sp>
        <p:nvSpPr>
          <p:cNvPr id="18" name="sector_turnover_0">
            <a:extLst>
              <a:ext uri="{FF2B5EF4-FFF2-40B4-BE49-F238E27FC236}">
                <a16:creationId xmlns:a16="http://schemas.microsoft.com/office/drawing/2014/main" id="{DA80C536-0B9B-4BFB-B2F4-CFDADF1D0A92}"/>
              </a:ext>
            </a:extLst>
          </p:cNvPr>
          <p:cNvSpPr>
            <a:spLocks noGrp="1"/>
          </p:cNvSpPr>
          <p:nvPr/>
        </p:nvSpPr>
        <p:spPr>
          <a:xfrm>
            <a:off x="10144125" y="2352675"/>
            <a:ext cx="762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9A9AA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9A9AA2"/>
                </a:solidFill>
                <a:latin typeface="Aptos Display"/>
                <a:ea typeface="Aptos Display"/>
                <a:cs typeface="Aptos Display"/>
              </a:rPr>
              <a:t>685亿</a:t>
            </a:r>
          </a:p>
        </p:txBody>
      </p:sp>
      <p:sp>
        <p:nvSpPr>
          <p:cNvPr id="19" name="sector_1">
            <a:extLst>
              <a:ext uri="{FF2B5EF4-FFF2-40B4-BE49-F238E27FC236}">
                <a16:creationId xmlns:a16="http://schemas.microsoft.com/office/drawing/2014/main" id="{8A5DD381-B531-48A3-9C47-FFA6707844F3}"/>
              </a:ext>
            </a:extLst>
          </p:cNvPr>
          <p:cNvSpPr>
            <a:spLocks noGrp="1"/>
          </p:cNvSpPr>
          <p:nvPr/>
        </p:nvSpPr>
        <p:spPr>
          <a:xfrm>
            <a:off x="1200150" y="28765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半导体</a:t>
            </a:r>
          </a:p>
        </p:txBody>
      </p:sp>
      <p:sp>
        <p:nvSpPr>
          <p:cNvPr id="20" name="sector_track_1">
            <a:extLst>
              <a:ext uri="{FF2B5EF4-FFF2-40B4-BE49-F238E27FC236}">
                <a16:creationId xmlns:a16="http://schemas.microsoft.com/office/drawing/2014/main" id="{9D6FAAB9-5649-43E1-942B-41228F87C230}"/>
              </a:ext>
            </a:extLst>
          </p:cNvPr>
          <p:cNvSpPr>
            <a:spLocks noGrp="1"/>
          </p:cNvSpPr>
          <p:nvPr/>
        </p:nvSpPr>
        <p:spPr>
          <a:xfrm>
            <a:off x="2686050" y="2971800"/>
            <a:ext cx="61912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ector_bar_1">
            <a:extLst>
              <a:ext uri="{FF2B5EF4-FFF2-40B4-BE49-F238E27FC236}">
                <a16:creationId xmlns:a16="http://schemas.microsoft.com/office/drawing/2014/main" id="{79034CBA-B4A6-4ECC-BFF3-38EEC8A72224}"/>
              </a:ext>
            </a:extLst>
          </p:cNvPr>
          <p:cNvSpPr>
            <a:spLocks noGrp="1"/>
          </p:cNvSpPr>
          <p:nvPr/>
        </p:nvSpPr>
        <p:spPr>
          <a:xfrm>
            <a:off x="2686050" y="2914650"/>
            <a:ext cx="5337861" cy="228600"/>
          </a:xfrm>
          <a:prstGeom prst="roundRect">
            <a:avLst>
              <a:gd name="adj" fmla="val 33333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ector_pct_1">
            <a:extLst>
              <a:ext uri="{FF2B5EF4-FFF2-40B4-BE49-F238E27FC236}">
                <a16:creationId xmlns:a16="http://schemas.microsoft.com/office/drawing/2014/main" id="{2B362249-D7FA-4C3D-B9A4-0759C730522B}"/>
              </a:ext>
            </a:extLst>
          </p:cNvPr>
          <p:cNvSpPr>
            <a:spLocks noGrp="1"/>
          </p:cNvSpPr>
          <p:nvPr/>
        </p:nvSpPr>
        <p:spPr>
          <a:xfrm>
            <a:off x="9067800" y="2886075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+6.38%</a:t>
            </a:r>
          </a:p>
        </p:txBody>
      </p:sp>
      <p:sp>
        <p:nvSpPr>
          <p:cNvPr id="23" name="sector_turnover_1">
            <a:extLst>
              <a:ext uri="{FF2B5EF4-FFF2-40B4-BE49-F238E27FC236}">
                <a16:creationId xmlns:a16="http://schemas.microsoft.com/office/drawing/2014/main" id="{1CC4F8D4-84EE-40B7-AD10-E98DCBDD0123}"/>
              </a:ext>
            </a:extLst>
          </p:cNvPr>
          <p:cNvSpPr>
            <a:spLocks noGrp="1"/>
          </p:cNvSpPr>
          <p:nvPr/>
        </p:nvSpPr>
        <p:spPr>
          <a:xfrm>
            <a:off x="10144125" y="2905125"/>
            <a:ext cx="762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9A9AA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9A9AA2"/>
                </a:solidFill>
                <a:latin typeface="Aptos Display"/>
                <a:ea typeface="Aptos Display"/>
                <a:cs typeface="Aptos Display"/>
              </a:rPr>
              <a:t>3207亿</a:t>
            </a:r>
          </a:p>
        </p:txBody>
      </p:sp>
      <p:sp>
        <p:nvSpPr>
          <p:cNvPr id="24" name="sector_2">
            <a:extLst>
              <a:ext uri="{FF2B5EF4-FFF2-40B4-BE49-F238E27FC236}">
                <a16:creationId xmlns:a16="http://schemas.microsoft.com/office/drawing/2014/main" id="{B7781F9F-B5C1-418C-AE95-341D7464432D}"/>
              </a:ext>
            </a:extLst>
          </p:cNvPr>
          <p:cNvSpPr>
            <a:spLocks noGrp="1"/>
          </p:cNvSpPr>
          <p:nvPr/>
        </p:nvSpPr>
        <p:spPr>
          <a:xfrm>
            <a:off x="1200150" y="34290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元件</a:t>
            </a:r>
          </a:p>
        </p:txBody>
      </p:sp>
      <p:sp>
        <p:nvSpPr>
          <p:cNvPr id="25" name="sector_track_2">
            <a:extLst>
              <a:ext uri="{FF2B5EF4-FFF2-40B4-BE49-F238E27FC236}">
                <a16:creationId xmlns:a16="http://schemas.microsoft.com/office/drawing/2014/main" id="{41BAEAF6-EC5E-49E8-9148-084E2969FA01}"/>
              </a:ext>
            </a:extLst>
          </p:cNvPr>
          <p:cNvSpPr>
            <a:spLocks noGrp="1"/>
          </p:cNvSpPr>
          <p:nvPr/>
        </p:nvSpPr>
        <p:spPr>
          <a:xfrm>
            <a:off x="2686050" y="3524250"/>
            <a:ext cx="61912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ector_bar_2">
            <a:extLst>
              <a:ext uri="{FF2B5EF4-FFF2-40B4-BE49-F238E27FC236}">
                <a16:creationId xmlns:a16="http://schemas.microsoft.com/office/drawing/2014/main" id="{897EE485-605F-4548-8A97-794CC45CE7F1}"/>
              </a:ext>
            </a:extLst>
          </p:cNvPr>
          <p:cNvSpPr>
            <a:spLocks noGrp="1"/>
          </p:cNvSpPr>
          <p:nvPr/>
        </p:nvSpPr>
        <p:spPr>
          <a:xfrm>
            <a:off x="2686050" y="3467100"/>
            <a:ext cx="4601605" cy="228600"/>
          </a:xfrm>
          <a:prstGeom prst="roundRect">
            <a:avLst>
              <a:gd name="adj" fmla="val 33333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ector_pct_2">
            <a:extLst>
              <a:ext uri="{FF2B5EF4-FFF2-40B4-BE49-F238E27FC236}">
                <a16:creationId xmlns:a16="http://schemas.microsoft.com/office/drawing/2014/main" id="{84B0C706-B0A4-4864-BDE1-A51DBB19D8F4}"/>
              </a:ext>
            </a:extLst>
          </p:cNvPr>
          <p:cNvSpPr>
            <a:spLocks noGrp="1"/>
          </p:cNvSpPr>
          <p:nvPr/>
        </p:nvSpPr>
        <p:spPr>
          <a:xfrm>
            <a:off x="9067800" y="3438525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+5.50%</a:t>
            </a:r>
          </a:p>
        </p:txBody>
      </p:sp>
      <p:sp>
        <p:nvSpPr>
          <p:cNvPr id="28" name="sector_turnover_2">
            <a:extLst>
              <a:ext uri="{FF2B5EF4-FFF2-40B4-BE49-F238E27FC236}">
                <a16:creationId xmlns:a16="http://schemas.microsoft.com/office/drawing/2014/main" id="{462B1FEA-477C-4188-95B2-1D5C08BC30B1}"/>
              </a:ext>
            </a:extLst>
          </p:cNvPr>
          <p:cNvSpPr>
            <a:spLocks noGrp="1"/>
          </p:cNvSpPr>
          <p:nvPr/>
        </p:nvSpPr>
        <p:spPr>
          <a:xfrm>
            <a:off x="10144125" y="3457575"/>
            <a:ext cx="762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9A9AA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9A9AA2"/>
                </a:solidFill>
                <a:latin typeface="Aptos Display"/>
                <a:ea typeface="Aptos Display"/>
                <a:cs typeface="Aptos Display"/>
              </a:rPr>
              <a:t>1680亿</a:t>
            </a:r>
          </a:p>
        </p:txBody>
      </p:sp>
      <p:sp>
        <p:nvSpPr>
          <p:cNvPr id="29" name="sector_3">
            <a:extLst>
              <a:ext uri="{FF2B5EF4-FFF2-40B4-BE49-F238E27FC236}">
                <a16:creationId xmlns:a16="http://schemas.microsoft.com/office/drawing/2014/main" id="{19D17DAB-BA0A-4F77-85E5-C16D6350A2F0}"/>
              </a:ext>
            </a:extLst>
          </p:cNvPr>
          <p:cNvSpPr>
            <a:spLocks noGrp="1"/>
          </p:cNvSpPr>
          <p:nvPr/>
        </p:nvSpPr>
        <p:spPr>
          <a:xfrm>
            <a:off x="1200150" y="39814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通信设备</a:t>
            </a:r>
          </a:p>
        </p:txBody>
      </p:sp>
      <p:sp>
        <p:nvSpPr>
          <p:cNvPr id="30" name="sector_track_3">
            <a:extLst>
              <a:ext uri="{FF2B5EF4-FFF2-40B4-BE49-F238E27FC236}">
                <a16:creationId xmlns:a16="http://schemas.microsoft.com/office/drawing/2014/main" id="{61DDEA8E-F0E1-4534-96FD-069D95212C5C}"/>
              </a:ext>
            </a:extLst>
          </p:cNvPr>
          <p:cNvSpPr>
            <a:spLocks noGrp="1"/>
          </p:cNvSpPr>
          <p:nvPr/>
        </p:nvSpPr>
        <p:spPr>
          <a:xfrm>
            <a:off x="2686050" y="4076700"/>
            <a:ext cx="61912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ector_bar_3">
            <a:extLst>
              <a:ext uri="{FF2B5EF4-FFF2-40B4-BE49-F238E27FC236}">
                <a16:creationId xmlns:a16="http://schemas.microsoft.com/office/drawing/2014/main" id="{547EF5FC-A71D-45FD-97D6-7A16F8C19C5C}"/>
              </a:ext>
            </a:extLst>
          </p:cNvPr>
          <p:cNvSpPr>
            <a:spLocks noGrp="1"/>
          </p:cNvSpPr>
          <p:nvPr/>
        </p:nvSpPr>
        <p:spPr>
          <a:xfrm>
            <a:off x="2686050" y="4019550"/>
            <a:ext cx="2760963" cy="228600"/>
          </a:xfrm>
          <a:prstGeom prst="roundRect">
            <a:avLst>
              <a:gd name="adj" fmla="val 33333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ector_pct_3">
            <a:extLst>
              <a:ext uri="{FF2B5EF4-FFF2-40B4-BE49-F238E27FC236}">
                <a16:creationId xmlns:a16="http://schemas.microsoft.com/office/drawing/2014/main" id="{A1EBE79F-2C83-45EF-BF6A-38FBADDDF2C5}"/>
              </a:ext>
            </a:extLst>
          </p:cNvPr>
          <p:cNvSpPr>
            <a:spLocks noGrp="1"/>
          </p:cNvSpPr>
          <p:nvPr/>
        </p:nvSpPr>
        <p:spPr>
          <a:xfrm>
            <a:off x="9067800" y="3990975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+3.30%</a:t>
            </a:r>
          </a:p>
        </p:txBody>
      </p:sp>
      <p:sp>
        <p:nvSpPr>
          <p:cNvPr id="33" name="sector_turnover_3">
            <a:extLst>
              <a:ext uri="{FF2B5EF4-FFF2-40B4-BE49-F238E27FC236}">
                <a16:creationId xmlns:a16="http://schemas.microsoft.com/office/drawing/2014/main" id="{43B6FE5E-BA5A-4FE8-80F8-6609BD455B58}"/>
              </a:ext>
            </a:extLst>
          </p:cNvPr>
          <p:cNvSpPr>
            <a:spLocks noGrp="1"/>
          </p:cNvSpPr>
          <p:nvPr/>
        </p:nvSpPr>
        <p:spPr>
          <a:xfrm>
            <a:off x="10144125" y="4010025"/>
            <a:ext cx="762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9A9AA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9A9AA2"/>
                </a:solidFill>
                <a:latin typeface="Aptos Display"/>
                <a:ea typeface="Aptos Display"/>
                <a:cs typeface="Aptos Display"/>
              </a:rPr>
              <a:t>2577亿</a:t>
            </a:r>
          </a:p>
        </p:txBody>
      </p:sp>
      <p:sp>
        <p:nvSpPr>
          <p:cNvPr id="34" name="sector_4">
            <a:extLst>
              <a:ext uri="{FF2B5EF4-FFF2-40B4-BE49-F238E27FC236}">
                <a16:creationId xmlns:a16="http://schemas.microsoft.com/office/drawing/2014/main" id="{9CF9D04B-C20D-4DFD-A50B-8B214960AC70}"/>
              </a:ext>
            </a:extLst>
          </p:cNvPr>
          <p:cNvSpPr>
            <a:spLocks noGrp="1"/>
          </p:cNvSpPr>
          <p:nvPr/>
        </p:nvSpPr>
        <p:spPr>
          <a:xfrm>
            <a:off x="1200150" y="453390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电池</a:t>
            </a:r>
          </a:p>
        </p:txBody>
      </p:sp>
      <p:sp>
        <p:nvSpPr>
          <p:cNvPr id="35" name="sector_track_4">
            <a:extLst>
              <a:ext uri="{FF2B5EF4-FFF2-40B4-BE49-F238E27FC236}">
                <a16:creationId xmlns:a16="http://schemas.microsoft.com/office/drawing/2014/main" id="{38A4DAF1-CF1E-4367-AD48-7020610D4C62}"/>
              </a:ext>
            </a:extLst>
          </p:cNvPr>
          <p:cNvSpPr>
            <a:spLocks noGrp="1"/>
          </p:cNvSpPr>
          <p:nvPr/>
        </p:nvSpPr>
        <p:spPr>
          <a:xfrm>
            <a:off x="2686050" y="4629150"/>
            <a:ext cx="61912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7059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ector_bar_4">
            <a:extLst>
              <a:ext uri="{FF2B5EF4-FFF2-40B4-BE49-F238E27FC236}">
                <a16:creationId xmlns:a16="http://schemas.microsoft.com/office/drawing/2014/main" id="{EE6B6D19-371A-40CE-A22E-15AEAEAFC84D}"/>
              </a:ext>
            </a:extLst>
          </p:cNvPr>
          <p:cNvSpPr>
            <a:spLocks noGrp="1"/>
          </p:cNvSpPr>
          <p:nvPr/>
        </p:nvSpPr>
        <p:spPr>
          <a:xfrm>
            <a:off x="2686050" y="4572000"/>
            <a:ext cx="2518333" cy="228600"/>
          </a:xfrm>
          <a:prstGeom prst="roundRect">
            <a:avLst>
              <a:gd name="adj" fmla="val 33333"/>
            </a:avLst>
          </a:prstGeom>
          <a:solidFill>
            <a:srgbClr val="FF45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sector_pct_4">
            <a:extLst>
              <a:ext uri="{FF2B5EF4-FFF2-40B4-BE49-F238E27FC236}">
                <a16:creationId xmlns:a16="http://schemas.microsoft.com/office/drawing/2014/main" id="{DA728DE9-A77E-4924-81AD-163F9509E6E5}"/>
              </a:ext>
            </a:extLst>
          </p:cNvPr>
          <p:cNvSpPr>
            <a:spLocks noGrp="1"/>
          </p:cNvSpPr>
          <p:nvPr/>
        </p:nvSpPr>
        <p:spPr>
          <a:xfrm>
            <a:off x="9067800" y="4543425"/>
            <a:ext cx="838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+3.01%</a:t>
            </a:r>
          </a:p>
        </p:txBody>
      </p:sp>
      <p:sp>
        <p:nvSpPr>
          <p:cNvPr id="38" name="sector_turnover_4">
            <a:extLst>
              <a:ext uri="{FF2B5EF4-FFF2-40B4-BE49-F238E27FC236}">
                <a16:creationId xmlns:a16="http://schemas.microsoft.com/office/drawing/2014/main" id="{E03F5AF0-CF25-4E8C-AA09-20536BD0710F}"/>
              </a:ext>
            </a:extLst>
          </p:cNvPr>
          <p:cNvSpPr>
            <a:spLocks noGrp="1"/>
          </p:cNvSpPr>
          <p:nvPr/>
        </p:nvSpPr>
        <p:spPr>
          <a:xfrm>
            <a:off x="10144125" y="4562475"/>
            <a:ext cx="762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9A9AA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9A9AA2"/>
                </a:solidFill>
                <a:latin typeface="Aptos Display"/>
                <a:ea typeface="Aptos Display"/>
                <a:cs typeface="Aptos Display"/>
              </a:rPr>
              <a:t>848亿</a:t>
            </a:r>
          </a:p>
        </p:txBody>
      </p:sp>
      <p:sp>
        <p:nvSpPr>
          <p:cNvPr id="39" name="lower_rule">
            <a:extLst>
              <a:ext uri="{FF2B5EF4-FFF2-40B4-BE49-F238E27FC236}">
                <a16:creationId xmlns:a16="http://schemas.microsoft.com/office/drawing/2014/main" id="{E0F5FDE0-9796-45C1-B341-4B097A6D74A0}"/>
              </a:ext>
            </a:extLst>
          </p:cNvPr>
          <p:cNvSpPr>
            <a:spLocks noGrp="1"/>
          </p:cNvSpPr>
          <p:nvPr/>
        </p:nvSpPr>
        <p:spPr>
          <a:xfrm>
            <a:off x="1200150" y="5314950"/>
            <a:ext cx="97155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breadth_big">
            <a:extLst>
              <a:ext uri="{FF2B5EF4-FFF2-40B4-BE49-F238E27FC236}">
                <a16:creationId xmlns:a16="http://schemas.microsoft.com/office/drawing/2014/main" id="{8F8E0416-FC67-4557-A95A-93A64A493F51}"/>
              </a:ext>
            </a:extLst>
          </p:cNvPr>
          <p:cNvSpPr>
            <a:spLocks noGrp="1"/>
          </p:cNvSpPr>
          <p:nvPr/>
        </p:nvSpPr>
        <p:spPr>
          <a:xfrm>
            <a:off x="1200150" y="5486400"/>
            <a:ext cx="1428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68/90</a:t>
            </a:r>
          </a:p>
        </p:txBody>
      </p:sp>
      <p:sp>
        <p:nvSpPr>
          <p:cNvPr id="41" name="breadth_label">
            <a:extLst>
              <a:ext uri="{FF2B5EF4-FFF2-40B4-BE49-F238E27FC236}">
                <a16:creationId xmlns:a16="http://schemas.microsoft.com/office/drawing/2014/main" id="{FBBE984C-A4AE-459A-B6A8-B0E58DC06296}"/>
              </a:ext>
            </a:extLst>
          </p:cNvPr>
          <p:cNvSpPr>
            <a:spLocks noGrp="1"/>
          </p:cNvSpPr>
          <p:nvPr/>
        </p:nvSpPr>
        <p:spPr>
          <a:xfrm>
            <a:off x="2647950" y="5638800"/>
            <a:ext cx="914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行业上涨</a:t>
            </a:r>
          </a:p>
        </p:txBody>
      </p:sp>
      <p:sp>
        <p:nvSpPr>
          <p:cNvPr id="42" name="stock_big">
            <a:extLst>
              <a:ext uri="{FF2B5EF4-FFF2-40B4-BE49-F238E27FC236}">
                <a16:creationId xmlns:a16="http://schemas.microsoft.com/office/drawing/2014/main" id="{653CB1B1-B297-4A43-BAA1-6FCC4DB5ADAF}"/>
              </a:ext>
            </a:extLst>
          </p:cNvPr>
          <p:cNvSpPr>
            <a:spLocks noGrp="1"/>
          </p:cNvSpPr>
          <p:nvPr/>
        </p:nvSpPr>
        <p:spPr>
          <a:xfrm>
            <a:off x="4800600" y="5486400"/>
            <a:ext cx="13144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3289</a:t>
            </a:r>
          </a:p>
        </p:txBody>
      </p:sp>
      <p:sp>
        <p:nvSpPr>
          <p:cNvPr id="43" name="stock_label">
            <a:extLst>
              <a:ext uri="{FF2B5EF4-FFF2-40B4-BE49-F238E27FC236}">
                <a16:creationId xmlns:a16="http://schemas.microsoft.com/office/drawing/2014/main" id="{FEB3D20C-F332-43A5-9491-9317598C7DD6}"/>
              </a:ext>
            </a:extLst>
          </p:cNvPr>
          <p:cNvSpPr>
            <a:spLocks noGrp="1"/>
          </p:cNvSpPr>
          <p:nvPr/>
        </p:nvSpPr>
        <p:spPr>
          <a:xfrm>
            <a:off x="6153150" y="5638800"/>
            <a:ext cx="1104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只个股上涨</a:t>
            </a:r>
          </a:p>
        </p:txBody>
      </p:sp>
      <p:sp>
        <p:nvSpPr>
          <p:cNvPr id="44" name="claim">
            <a:extLst>
              <a:ext uri="{FF2B5EF4-FFF2-40B4-BE49-F238E27FC236}">
                <a16:creationId xmlns:a16="http://schemas.microsoft.com/office/drawing/2014/main" id="{9E86586E-37F3-41B0-96B2-DD3E8FC1BD43}"/>
              </a:ext>
            </a:extLst>
          </p:cNvPr>
          <p:cNvSpPr>
            <a:spLocks noGrp="1"/>
          </p:cNvSpPr>
          <p:nvPr/>
        </p:nvSpPr>
        <p:spPr>
          <a:xfrm>
            <a:off x="7962900" y="5562600"/>
            <a:ext cx="2952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成交额靠前的科技链强化了“成长修复”的画面。</a:t>
            </a:r>
          </a:p>
        </p:txBody>
      </p:sp>
      <p:sp>
        <p:nvSpPr>
          <p:cNvPr id="45" name="footer_rule">
            <a:extLst>
              <a:ext uri="{FF2B5EF4-FFF2-40B4-BE49-F238E27FC236}">
                <a16:creationId xmlns:a16="http://schemas.microsoft.com/office/drawing/2014/main" id="{9AA78A1F-0A2F-4A48-BFF6-6A2EEF1169C9}"/>
              </a:ext>
            </a:extLst>
          </p:cNvPr>
          <p:cNvSpPr>
            <a:spLocks noGrp="1"/>
          </p:cNvSpPr>
          <p:nvPr/>
        </p:nvSpPr>
        <p:spPr>
          <a:xfrm>
            <a:off x="914400" y="6229350"/>
            <a:ext cx="10363200" cy="11430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footer_source">
            <a:extLst>
              <a:ext uri="{FF2B5EF4-FFF2-40B4-BE49-F238E27FC236}">
                <a16:creationId xmlns:a16="http://schemas.microsoft.com/office/drawing/2014/main" id="{B78CBEB3-A958-48AC-A282-FFAFFCB08DE1}"/>
              </a:ext>
            </a:extLst>
          </p:cNvPr>
          <p:cNvSpPr>
            <a:spLocks noGrp="1"/>
          </p:cNvSpPr>
          <p:nvPr/>
        </p:nvSpPr>
        <p:spPr>
          <a:xfrm>
            <a:off x="914400" y="63627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行业涨跌、成交额与市场宽度来自同花顺财经 2026.06.09 行情复盘</a:t>
            </a:r>
          </a:p>
        </p:txBody>
      </p:sp>
      <p:sp>
        <p:nvSpPr>
          <p:cNvPr id="47" name="as_of">
            <a:extLst>
              <a:ext uri="{FF2B5EF4-FFF2-40B4-BE49-F238E27FC236}">
                <a16:creationId xmlns:a16="http://schemas.microsoft.com/office/drawing/2014/main" id="{4C4265F7-8A33-4571-96D3-0FB1F288C168}"/>
              </a:ext>
            </a:extLst>
          </p:cNvPr>
          <p:cNvSpPr>
            <a:spLocks noGrp="1"/>
          </p:cNvSpPr>
          <p:nvPr/>
        </p:nvSpPr>
        <p:spPr>
          <a:xfrm>
            <a:off x="9810750" y="63627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2026.06.09 收盘</a:t>
            </a:r>
          </a:p>
        </p:txBody>
      </p:sp>
    </p:spTree>
    <p:extLst>
      <p:ext uri="{BB962C8B-B14F-4D97-AF65-F5344CB8AC3E}">
        <p14:creationId xmlns:p14="http://schemas.microsoft.com/office/powerpoint/2010/main" val="2118610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ackground">
            <a:extLst>
              <a:ext uri="{FF2B5EF4-FFF2-40B4-BE49-F238E27FC236}">
                <a16:creationId xmlns:a16="http://schemas.microsoft.com/office/drawing/2014/main" id="{67127AC3-7FDF-4A8A-A399-1CD42A0AA3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_v_0">
            <a:extLst>
              <a:ext uri="{FF2B5EF4-FFF2-40B4-BE49-F238E27FC236}">
                <a16:creationId xmlns:a16="http://schemas.microsoft.com/office/drawing/2014/main" id="{A454A0F4-227F-471C-8CD2-7754C71BEA15}"/>
              </a:ext>
            </a:extLst>
          </p:cNvPr>
          <p:cNvSpPr>
            <a:spLocks noGrp="1"/>
          </p:cNvSpPr>
          <p:nvPr/>
        </p:nvSpPr>
        <p:spPr>
          <a:xfrm>
            <a:off x="1047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grid_v_1">
            <a:extLst>
              <a:ext uri="{FF2B5EF4-FFF2-40B4-BE49-F238E27FC236}">
                <a16:creationId xmlns:a16="http://schemas.microsoft.com/office/drawing/2014/main" id="{4F333556-9E37-4F47-A4AD-286E45DA1180}"/>
              </a:ext>
            </a:extLst>
          </p:cNvPr>
          <p:cNvSpPr>
            <a:spLocks noGrp="1"/>
          </p:cNvSpPr>
          <p:nvPr/>
        </p:nvSpPr>
        <p:spPr>
          <a:xfrm>
            <a:off x="2667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grid_v_2">
            <a:extLst>
              <a:ext uri="{FF2B5EF4-FFF2-40B4-BE49-F238E27FC236}">
                <a16:creationId xmlns:a16="http://schemas.microsoft.com/office/drawing/2014/main" id="{520C792B-B6CB-4F78-B2C7-70B8B0A63DAF}"/>
              </a:ext>
            </a:extLst>
          </p:cNvPr>
          <p:cNvSpPr>
            <a:spLocks noGrp="1"/>
          </p:cNvSpPr>
          <p:nvPr/>
        </p:nvSpPr>
        <p:spPr>
          <a:xfrm>
            <a:off x="4286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grid_v_3">
            <a:extLst>
              <a:ext uri="{FF2B5EF4-FFF2-40B4-BE49-F238E27FC236}">
                <a16:creationId xmlns:a16="http://schemas.microsoft.com/office/drawing/2014/main" id="{1F879BB8-8580-41A0-A3B7-5FB395848074}"/>
              </a:ext>
            </a:extLst>
          </p:cNvPr>
          <p:cNvSpPr>
            <a:spLocks noGrp="1"/>
          </p:cNvSpPr>
          <p:nvPr/>
        </p:nvSpPr>
        <p:spPr>
          <a:xfrm>
            <a:off x="59055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grid_v_4">
            <a:extLst>
              <a:ext uri="{FF2B5EF4-FFF2-40B4-BE49-F238E27FC236}">
                <a16:creationId xmlns:a16="http://schemas.microsoft.com/office/drawing/2014/main" id="{74E9D2A1-ADEE-484D-9042-123F6EB05849}"/>
              </a:ext>
            </a:extLst>
          </p:cNvPr>
          <p:cNvSpPr>
            <a:spLocks noGrp="1"/>
          </p:cNvSpPr>
          <p:nvPr/>
        </p:nvSpPr>
        <p:spPr>
          <a:xfrm>
            <a:off x="7524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grid_v_5">
            <a:extLst>
              <a:ext uri="{FF2B5EF4-FFF2-40B4-BE49-F238E27FC236}">
                <a16:creationId xmlns:a16="http://schemas.microsoft.com/office/drawing/2014/main" id="{F4527C54-B547-4859-B32A-BFDD30E5C972}"/>
              </a:ext>
            </a:extLst>
          </p:cNvPr>
          <p:cNvSpPr>
            <a:spLocks noGrp="1"/>
          </p:cNvSpPr>
          <p:nvPr/>
        </p:nvSpPr>
        <p:spPr>
          <a:xfrm>
            <a:off x="9144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grid_v_6">
            <a:extLst>
              <a:ext uri="{FF2B5EF4-FFF2-40B4-BE49-F238E27FC236}">
                <a16:creationId xmlns:a16="http://schemas.microsoft.com/office/drawing/2014/main" id="{B81FA94E-3159-465F-8517-C71E97779514}"/>
              </a:ext>
            </a:extLst>
          </p:cNvPr>
          <p:cNvSpPr>
            <a:spLocks noGrp="1"/>
          </p:cNvSpPr>
          <p:nvPr/>
        </p:nvSpPr>
        <p:spPr>
          <a:xfrm>
            <a:off x="10763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D7CFAF04-9538-40F4-AF21-8F4E52E9D9F3}"/>
              </a:ext>
            </a:extLst>
          </p:cNvPr>
          <p:cNvSpPr>
            <a:spLocks noGrp="1"/>
          </p:cNvSpPr>
          <p:nvPr/>
        </p:nvSpPr>
        <p:spPr>
          <a:xfrm>
            <a:off x="914400" y="533400"/>
            <a:ext cx="419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STYLE ROTATION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F72919C7-7339-46A1-BD0A-C06EE3883BAA}"/>
              </a:ext>
            </a:extLst>
          </p:cNvPr>
          <p:cNvSpPr>
            <a:spLocks noGrp="1"/>
          </p:cNvSpPr>
          <p:nvPr/>
        </p:nvSpPr>
        <p:spPr>
          <a:xfrm>
            <a:off x="914400" y="838200"/>
            <a:ext cx="7620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防御托底后，让位给成长修复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D955EAAB-1044-41A3-9A3B-C11140B9C522}"/>
              </a:ext>
            </a:extLst>
          </p:cNvPr>
          <p:cNvSpPr>
            <a:spLocks noGrp="1"/>
          </p:cNvSpPr>
          <p:nvPr/>
        </p:nvSpPr>
        <p:spPr>
          <a:xfrm>
            <a:off x="933450" y="142875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6月8日强的是防御与红利，6月9日领涨的换成科技成长。</a:t>
            </a:r>
          </a:p>
        </p:txBody>
      </p:sp>
      <p:sp>
        <p:nvSpPr>
          <p:cNvPr id="12" name="signal_bar">
            <a:extLst>
              <a:ext uri="{FF2B5EF4-FFF2-40B4-BE49-F238E27FC236}">
                <a16:creationId xmlns:a16="http://schemas.microsoft.com/office/drawing/2014/main" id="{36F5832E-1986-4802-B067-D9DAD7E808F1}"/>
              </a:ext>
            </a:extLst>
          </p:cNvPr>
          <p:cNvSpPr>
            <a:spLocks noGrp="1"/>
          </p:cNvSpPr>
          <p:nvPr/>
        </p:nvSpPr>
        <p:spPr>
          <a:xfrm>
            <a:off x="6191250" y="5962650"/>
            <a:ext cx="2428875" cy="47625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ignal_tail">
            <a:extLst>
              <a:ext uri="{FF2B5EF4-FFF2-40B4-BE49-F238E27FC236}">
                <a16:creationId xmlns:a16="http://schemas.microsoft.com/office/drawing/2014/main" id="{B3E82449-B4F9-485A-AB0C-BE07FF32E124}"/>
              </a:ext>
            </a:extLst>
          </p:cNvPr>
          <p:cNvSpPr>
            <a:spLocks noGrp="1"/>
          </p:cNvSpPr>
          <p:nvPr/>
        </p:nvSpPr>
        <p:spPr>
          <a:xfrm>
            <a:off x="8715375" y="5981700"/>
            <a:ext cx="55245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left_panel">
            <a:extLst>
              <a:ext uri="{FF2B5EF4-FFF2-40B4-BE49-F238E27FC236}">
                <a16:creationId xmlns:a16="http://schemas.microsoft.com/office/drawing/2014/main" id="{D7C44159-AE01-4B9B-A89A-C3ECB89B5230}"/>
              </a:ext>
            </a:extLst>
          </p:cNvPr>
          <p:cNvSpPr>
            <a:spLocks noGrp="1"/>
          </p:cNvSpPr>
          <p:nvPr/>
        </p:nvSpPr>
        <p:spPr>
          <a:xfrm>
            <a:off x="1085850" y="2152650"/>
            <a:ext cx="4619625" cy="2895600"/>
          </a:xfrm>
          <a:prstGeom prst="roundRect">
            <a:avLst>
              <a:gd name="adj" fmla="val 2632"/>
            </a:avLst>
          </a:prstGeom>
          <a:solidFill>
            <a:srgbClr val="FFFFFF">
              <a:alpha val="3137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5" name="right_panel">
            <a:extLst>
              <a:ext uri="{FF2B5EF4-FFF2-40B4-BE49-F238E27FC236}">
                <a16:creationId xmlns:a16="http://schemas.microsoft.com/office/drawing/2014/main" id="{6C7E6D50-6628-4DCB-BBD5-5FEE85DE15E0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4619625" cy="2895600"/>
          </a:xfrm>
          <a:prstGeom prst="roundRect">
            <a:avLst>
              <a:gd name="adj" fmla="val 2632"/>
            </a:avLst>
          </a:prstGeom>
          <a:solidFill>
            <a:srgbClr val="FFFFFF">
              <a:alpha val="3137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6" name="left_title">
            <a:extLst>
              <a:ext uri="{FF2B5EF4-FFF2-40B4-BE49-F238E27FC236}">
                <a16:creationId xmlns:a16="http://schemas.microsoft.com/office/drawing/2014/main" id="{3F965324-5EA0-4636-8F71-A198509D6611}"/>
              </a:ext>
            </a:extLst>
          </p:cNvPr>
          <p:cNvSpPr>
            <a:spLocks noGrp="1"/>
          </p:cNvSpPr>
          <p:nvPr/>
        </p:nvSpPr>
        <p:spPr>
          <a:xfrm>
            <a:off x="1390650" y="24193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06.08 托底</a:t>
            </a:r>
          </a:p>
        </p:txBody>
      </p:sp>
      <p:sp>
        <p:nvSpPr>
          <p:cNvPr id="17" name="right_title">
            <a:extLst>
              <a:ext uri="{FF2B5EF4-FFF2-40B4-BE49-F238E27FC236}">
                <a16:creationId xmlns:a16="http://schemas.microsoft.com/office/drawing/2014/main" id="{3F709DDD-23E1-4BC0-81D0-7A1AE27CDECC}"/>
              </a:ext>
            </a:extLst>
          </p:cNvPr>
          <p:cNvSpPr>
            <a:spLocks noGrp="1"/>
          </p:cNvSpPr>
          <p:nvPr/>
        </p:nvSpPr>
        <p:spPr>
          <a:xfrm>
            <a:off x="6791325" y="2419350"/>
            <a:ext cx="1619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06.09 让位</a:t>
            </a:r>
          </a:p>
        </p:txBody>
      </p:sp>
      <p:sp>
        <p:nvSpPr>
          <p:cNvPr id="18" name="left_sub">
            <a:extLst>
              <a:ext uri="{FF2B5EF4-FFF2-40B4-BE49-F238E27FC236}">
                <a16:creationId xmlns:a16="http://schemas.microsoft.com/office/drawing/2014/main" id="{B80BFC73-382C-41D9-AE4A-D03F0A1A0554}"/>
              </a:ext>
            </a:extLst>
          </p:cNvPr>
          <p:cNvSpPr>
            <a:spLocks noGrp="1"/>
          </p:cNvSpPr>
          <p:nvPr/>
        </p:nvSpPr>
        <p:spPr>
          <a:xfrm>
            <a:off x="1409700" y="27813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逆势上涨行业</a:t>
            </a:r>
          </a:p>
        </p:txBody>
      </p:sp>
      <p:sp>
        <p:nvSpPr>
          <p:cNvPr id="19" name="right_sub">
            <a:extLst>
              <a:ext uri="{FF2B5EF4-FFF2-40B4-BE49-F238E27FC236}">
                <a16:creationId xmlns:a16="http://schemas.microsoft.com/office/drawing/2014/main" id="{A6CBF6E2-E654-45AD-948B-8BB608C9E564}"/>
              </a:ext>
            </a:extLst>
          </p:cNvPr>
          <p:cNvSpPr>
            <a:spLocks noGrp="1"/>
          </p:cNvSpPr>
          <p:nvPr/>
        </p:nvSpPr>
        <p:spPr>
          <a:xfrm>
            <a:off x="6810375" y="278130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跌幅居前行业</a:t>
            </a:r>
          </a:p>
        </p:txBody>
      </p:sp>
      <p:sp>
        <p:nvSpPr>
          <p:cNvPr id="20" name="def_name_0">
            <a:extLst>
              <a:ext uri="{FF2B5EF4-FFF2-40B4-BE49-F238E27FC236}">
                <a16:creationId xmlns:a16="http://schemas.microsoft.com/office/drawing/2014/main" id="{2C007B2E-B97D-43BB-B538-A7891E90C265}"/>
              </a:ext>
            </a:extLst>
          </p:cNvPr>
          <p:cNvSpPr>
            <a:spLocks noGrp="1"/>
          </p:cNvSpPr>
          <p:nvPr/>
        </p:nvSpPr>
        <p:spPr>
          <a:xfrm>
            <a:off x="1409700" y="3333750"/>
            <a:ext cx="1428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工程机械</a:t>
            </a:r>
          </a:p>
        </p:txBody>
      </p:sp>
      <p:sp>
        <p:nvSpPr>
          <p:cNvPr id="21" name="def_bar_0">
            <a:extLst>
              <a:ext uri="{FF2B5EF4-FFF2-40B4-BE49-F238E27FC236}">
                <a16:creationId xmlns:a16="http://schemas.microsoft.com/office/drawing/2014/main" id="{AFC45A20-1515-44DA-A136-DF91AB59BA7A}"/>
              </a:ext>
            </a:extLst>
          </p:cNvPr>
          <p:cNvSpPr>
            <a:spLocks noGrp="1"/>
          </p:cNvSpPr>
          <p:nvPr/>
        </p:nvSpPr>
        <p:spPr>
          <a:xfrm>
            <a:off x="2971800" y="3400425"/>
            <a:ext cx="1436370" cy="133350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def_pct_0">
            <a:extLst>
              <a:ext uri="{FF2B5EF4-FFF2-40B4-BE49-F238E27FC236}">
                <a16:creationId xmlns:a16="http://schemas.microsoft.com/office/drawing/2014/main" id="{EE4E70DC-F88A-481E-9BE0-AB2EADED5824}"/>
              </a:ext>
            </a:extLst>
          </p:cNvPr>
          <p:cNvSpPr>
            <a:spLocks noGrp="1"/>
          </p:cNvSpPr>
          <p:nvPr/>
        </p:nvSpPr>
        <p:spPr>
          <a:xfrm>
            <a:off x="4781550" y="3324225"/>
            <a:ext cx="6858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+1.04%</a:t>
            </a:r>
          </a:p>
        </p:txBody>
      </p:sp>
      <p:sp>
        <p:nvSpPr>
          <p:cNvPr id="23" name="def_name_1">
            <a:extLst>
              <a:ext uri="{FF2B5EF4-FFF2-40B4-BE49-F238E27FC236}">
                <a16:creationId xmlns:a16="http://schemas.microsoft.com/office/drawing/2014/main" id="{9FAA3A8A-29FE-4F50-A539-A191A4429027}"/>
              </a:ext>
            </a:extLst>
          </p:cNvPr>
          <p:cNvSpPr>
            <a:spLocks noGrp="1"/>
          </p:cNvSpPr>
          <p:nvPr/>
        </p:nvSpPr>
        <p:spPr>
          <a:xfrm>
            <a:off x="1409700" y="3829050"/>
            <a:ext cx="1428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石油行业</a:t>
            </a:r>
          </a:p>
        </p:txBody>
      </p:sp>
      <p:sp>
        <p:nvSpPr>
          <p:cNvPr id="24" name="def_bar_1">
            <a:extLst>
              <a:ext uri="{FF2B5EF4-FFF2-40B4-BE49-F238E27FC236}">
                <a16:creationId xmlns:a16="http://schemas.microsoft.com/office/drawing/2014/main" id="{4F4069EB-6188-4A1A-A093-5F85F68EF2CC}"/>
              </a:ext>
            </a:extLst>
          </p:cNvPr>
          <p:cNvSpPr>
            <a:spLocks noGrp="1"/>
          </p:cNvSpPr>
          <p:nvPr/>
        </p:nvSpPr>
        <p:spPr>
          <a:xfrm>
            <a:off x="2971800" y="3895725"/>
            <a:ext cx="1298258" cy="133350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def_pct_1">
            <a:extLst>
              <a:ext uri="{FF2B5EF4-FFF2-40B4-BE49-F238E27FC236}">
                <a16:creationId xmlns:a16="http://schemas.microsoft.com/office/drawing/2014/main" id="{0EE650D3-1C25-4967-B997-76C29034FB9C}"/>
              </a:ext>
            </a:extLst>
          </p:cNvPr>
          <p:cNvSpPr>
            <a:spLocks noGrp="1"/>
          </p:cNvSpPr>
          <p:nvPr/>
        </p:nvSpPr>
        <p:spPr>
          <a:xfrm>
            <a:off x="4781550" y="3819525"/>
            <a:ext cx="6858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+0.94%</a:t>
            </a:r>
          </a:p>
        </p:txBody>
      </p:sp>
      <p:sp>
        <p:nvSpPr>
          <p:cNvPr id="26" name="def_name_2">
            <a:extLst>
              <a:ext uri="{FF2B5EF4-FFF2-40B4-BE49-F238E27FC236}">
                <a16:creationId xmlns:a16="http://schemas.microsoft.com/office/drawing/2014/main" id="{B31275AB-AFCB-4F76-B55A-77F8D48269AE}"/>
              </a:ext>
            </a:extLst>
          </p:cNvPr>
          <p:cNvSpPr>
            <a:spLocks noGrp="1"/>
          </p:cNvSpPr>
          <p:nvPr/>
        </p:nvSpPr>
        <p:spPr>
          <a:xfrm>
            <a:off x="1409700" y="4324350"/>
            <a:ext cx="1428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银行</a:t>
            </a:r>
          </a:p>
        </p:txBody>
      </p:sp>
      <p:sp>
        <p:nvSpPr>
          <p:cNvPr id="27" name="def_bar_2">
            <a:extLst>
              <a:ext uri="{FF2B5EF4-FFF2-40B4-BE49-F238E27FC236}">
                <a16:creationId xmlns:a16="http://schemas.microsoft.com/office/drawing/2014/main" id="{EF93A7B9-2726-4B55-BDD4-433E16070F94}"/>
              </a:ext>
            </a:extLst>
          </p:cNvPr>
          <p:cNvSpPr>
            <a:spLocks noGrp="1"/>
          </p:cNvSpPr>
          <p:nvPr/>
        </p:nvSpPr>
        <p:spPr>
          <a:xfrm>
            <a:off x="2971800" y="4391025"/>
            <a:ext cx="580073" cy="133350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def_pct_2">
            <a:extLst>
              <a:ext uri="{FF2B5EF4-FFF2-40B4-BE49-F238E27FC236}">
                <a16:creationId xmlns:a16="http://schemas.microsoft.com/office/drawing/2014/main" id="{DA11EB7C-AA95-4230-AD96-B656F7567BC4}"/>
              </a:ext>
            </a:extLst>
          </p:cNvPr>
          <p:cNvSpPr>
            <a:spLocks noGrp="1"/>
          </p:cNvSpPr>
          <p:nvPr/>
        </p:nvSpPr>
        <p:spPr>
          <a:xfrm>
            <a:off x="4781550" y="4314825"/>
            <a:ext cx="6858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+0.42%</a:t>
            </a:r>
          </a:p>
        </p:txBody>
      </p:sp>
      <p:sp>
        <p:nvSpPr>
          <p:cNvPr id="29" name="lag_name_0">
            <a:extLst>
              <a:ext uri="{FF2B5EF4-FFF2-40B4-BE49-F238E27FC236}">
                <a16:creationId xmlns:a16="http://schemas.microsoft.com/office/drawing/2014/main" id="{635115C1-639A-4B2F-9F9D-4B7292DE146B}"/>
              </a:ext>
            </a:extLst>
          </p:cNvPr>
          <p:cNvSpPr>
            <a:spLocks noGrp="1"/>
          </p:cNvSpPr>
          <p:nvPr/>
        </p:nvSpPr>
        <p:spPr>
          <a:xfrm>
            <a:off x="6810375" y="3333750"/>
            <a:ext cx="1428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油气开采</a:t>
            </a:r>
          </a:p>
        </p:txBody>
      </p:sp>
      <p:sp>
        <p:nvSpPr>
          <p:cNvPr id="30" name="lag_bar_0">
            <a:extLst>
              <a:ext uri="{FF2B5EF4-FFF2-40B4-BE49-F238E27FC236}">
                <a16:creationId xmlns:a16="http://schemas.microsoft.com/office/drawing/2014/main" id="{73C33F8E-CDF0-45FB-B81E-A39A24DF3357}"/>
              </a:ext>
            </a:extLst>
          </p:cNvPr>
          <p:cNvSpPr>
            <a:spLocks noGrp="1"/>
          </p:cNvSpPr>
          <p:nvPr/>
        </p:nvSpPr>
        <p:spPr>
          <a:xfrm>
            <a:off x="8372475" y="3400425"/>
            <a:ext cx="1582016" cy="133350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lag_pct_0">
            <a:extLst>
              <a:ext uri="{FF2B5EF4-FFF2-40B4-BE49-F238E27FC236}">
                <a16:creationId xmlns:a16="http://schemas.microsoft.com/office/drawing/2014/main" id="{C87F78CA-594E-464F-8476-E33899C9751E}"/>
              </a:ext>
            </a:extLst>
          </p:cNvPr>
          <p:cNvSpPr>
            <a:spLocks noGrp="1"/>
          </p:cNvSpPr>
          <p:nvPr/>
        </p:nvSpPr>
        <p:spPr>
          <a:xfrm>
            <a:off x="10172700" y="3324225"/>
            <a:ext cx="6858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-4.20%</a:t>
            </a:r>
          </a:p>
        </p:txBody>
      </p:sp>
      <p:sp>
        <p:nvSpPr>
          <p:cNvPr id="32" name="lag_name_1">
            <a:extLst>
              <a:ext uri="{FF2B5EF4-FFF2-40B4-BE49-F238E27FC236}">
                <a16:creationId xmlns:a16="http://schemas.microsoft.com/office/drawing/2014/main" id="{C5805D1A-F024-4E58-B885-98B4962828E6}"/>
              </a:ext>
            </a:extLst>
          </p:cNvPr>
          <p:cNvSpPr>
            <a:spLocks noGrp="1"/>
          </p:cNvSpPr>
          <p:nvPr/>
        </p:nvSpPr>
        <p:spPr>
          <a:xfrm>
            <a:off x="6810375" y="3829050"/>
            <a:ext cx="1428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煤炭行业</a:t>
            </a:r>
          </a:p>
        </p:txBody>
      </p:sp>
      <p:sp>
        <p:nvSpPr>
          <p:cNvPr id="33" name="lag_bar_1">
            <a:extLst>
              <a:ext uri="{FF2B5EF4-FFF2-40B4-BE49-F238E27FC236}">
                <a16:creationId xmlns:a16="http://schemas.microsoft.com/office/drawing/2014/main" id="{AC2B37D0-FACA-4D4D-B9C0-530AEB692AD8}"/>
              </a:ext>
            </a:extLst>
          </p:cNvPr>
          <p:cNvSpPr>
            <a:spLocks noGrp="1"/>
          </p:cNvSpPr>
          <p:nvPr/>
        </p:nvSpPr>
        <p:spPr>
          <a:xfrm>
            <a:off x="8372475" y="3895725"/>
            <a:ext cx="1035844" cy="133350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lag_pct_1">
            <a:extLst>
              <a:ext uri="{FF2B5EF4-FFF2-40B4-BE49-F238E27FC236}">
                <a16:creationId xmlns:a16="http://schemas.microsoft.com/office/drawing/2014/main" id="{6E7A5DBF-4BA6-4431-A5CF-167EB2C228DF}"/>
              </a:ext>
            </a:extLst>
          </p:cNvPr>
          <p:cNvSpPr>
            <a:spLocks noGrp="1"/>
          </p:cNvSpPr>
          <p:nvPr/>
        </p:nvSpPr>
        <p:spPr>
          <a:xfrm>
            <a:off x="10172700" y="3819525"/>
            <a:ext cx="6858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-2.75%</a:t>
            </a:r>
          </a:p>
        </p:txBody>
      </p:sp>
      <p:sp>
        <p:nvSpPr>
          <p:cNvPr id="35" name="lag_name_2">
            <a:extLst>
              <a:ext uri="{FF2B5EF4-FFF2-40B4-BE49-F238E27FC236}">
                <a16:creationId xmlns:a16="http://schemas.microsoft.com/office/drawing/2014/main" id="{8ED356AC-781F-4FB5-BEF1-6898B214E061}"/>
              </a:ext>
            </a:extLst>
          </p:cNvPr>
          <p:cNvSpPr>
            <a:spLocks noGrp="1"/>
          </p:cNvSpPr>
          <p:nvPr/>
        </p:nvSpPr>
        <p:spPr>
          <a:xfrm>
            <a:off x="6810375" y="4324350"/>
            <a:ext cx="1428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酿酒行业</a:t>
            </a:r>
          </a:p>
        </p:txBody>
      </p:sp>
      <p:sp>
        <p:nvSpPr>
          <p:cNvPr id="36" name="lag_bar_2">
            <a:extLst>
              <a:ext uri="{FF2B5EF4-FFF2-40B4-BE49-F238E27FC236}">
                <a16:creationId xmlns:a16="http://schemas.microsoft.com/office/drawing/2014/main" id="{3A089BB5-3D5D-40D5-87D5-9FD2EDD909A4}"/>
              </a:ext>
            </a:extLst>
          </p:cNvPr>
          <p:cNvSpPr>
            <a:spLocks noGrp="1"/>
          </p:cNvSpPr>
          <p:nvPr/>
        </p:nvSpPr>
        <p:spPr>
          <a:xfrm>
            <a:off x="8372475" y="4391025"/>
            <a:ext cx="922843" cy="133350"/>
          </a:xfrm>
          <a:prstGeom prst="roundRect">
            <a:avLst>
              <a:gd name="adj" fmla="val 50000"/>
            </a:avLst>
          </a:prstGeom>
          <a:solidFill>
            <a:srgbClr val="30D1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lag_pct_2">
            <a:extLst>
              <a:ext uri="{FF2B5EF4-FFF2-40B4-BE49-F238E27FC236}">
                <a16:creationId xmlns:a16="http://schemas.microsoft.com/office/drawing/2014/main" id="{60B335AC-8CEC-4B34-A740-5A083EF4A973}"/>
              </a:ext>
            </a:extLst>
          </p:cNvPr>
          <p:cNvSpPr>
            <a:spLocks noGrp="1"/>
          </p:cNvSpPr>
          <p:nvPr/>
        </p:nvSpPr>
        <p:spPr>
          <a:xfrm>
            <a:off x="10172700" y="4314825"/>
            <a:ext cx="6858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30D158"/>
                </a:solidFill>
                <a:latin typeface="Aptos Display"/>
                <a:ea typeface="Aptos Display"/>
                <a:cs typeface="Aptos Display"/>
              </a:rPr>
              <a:t>-2.45%</a:t>
            </a:r>
          </a:p>
        </p:txBody>
      </p:sp>
      <p:sp>
        <p:nvSpPr>
          <p:cNvPr id="38" name="claim">
            <a:extLst>
              <a:ext uri="{FF2B5EF4-FFF2-40B4-BE49-F238E27FC236}">
                <a16:creationId xmlns:a16="http://schemas.microsoft.com/office/drawing/2014/main" id="{E5C039E8-4A25-4AD7-B9E5-C7B88FB49EE2}"/>
              </a:ext>
            </a:extLst>
          </p:cNvPr>
          <p:cNvSpPr>
            <a:spLocks noGrp="1"/>
          </p:cNvSpPr>
          <p:nvPr/>
        </p:nvSpPr>
        <p:spPr>
          <a:xfrm>
            <a:off x="1638300" y="5448300"/>
            <a:ext cx="8915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这意味着短线交易情绪在恢复，但还需要成交额和板块持续性来确认趋势。</a:t>
            </a:r>
          </a:p>
        </p:txBody>
      </p:sp>
      <p:sp>
        <p:nvSpPr>
          <p:cNvPr id="39" name="footer_rule">
            <a:extLst>
              <a:ext uri="{FF2B5EF4-FFF2-40B4-BE49-F238E27FC236}">
                <a16:creationId xmlns:a16="http://schemas.microsoft.com/office/drawing/2014/main" id="{90E570E0-4AFE-461B-86EF-738470D833F4}"/>
              </a:ext>
            </a:extLst>
          </p:cNvPr>
          <p:cNvSpPr>
            <a:spLocks noGrp="1"/>
          </p:cNvSpPr>
          <p:nvPr/>
        </p:nvSpPr>
        <p:spPr>
          <a:xfrm>
            <a:off x="914400" y="6229350"/>
            <a:ext cx="10363200" cy="11430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footer_source">
            <a:extLst>
              <a:ext uri="{FF2B5EF4-FFF2-40B4-BE49-F238E27FC236}">
                <a16:creationId xmlns:a16="http://schemas.microsoft.com/office/drawing/2014/main" id="{00D06450-6CFE-42E1-ABE8-6DAA51AE8AAC}"/>
              </a:ext>
            </a:extLst>
          </p:cNvPr>
          <p:cNvSpPr>
            <a:spLocks noGrp="1"/>
          </p:cNvSpPr>
          <p:nvPr/>
        </p:nvSpPr>
        <p:spPr>
          <a:xfrm>
            <a:off x="914400" y="63627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行业表现来自同花顺财经 2026.06.08 / 2026.06.09 行情复盘</a:t>
            </a:r>
          </a:p>
        </p:txBody>
      </p:sp>
      <p:sp>
        <p:nvSpPr>
          <p:cNvPr id="41" name="as_of">
            <a:extLst>
              <a:ext uri="{FF2B5EF4-FFF2-40B4-BE49-F238E27FC236}">
                <a16:creationId xmlns:a16="http://schemas.microsoft.com/office/drawing/2014/main" id="{5B3D9985-784D-4DB0-94B9-C0DD2E944E11}"/>
              </a:ext>
            </a:extLst>
          </p:cNvPr>
          <p:cNvSpPr>
            <a:spLocks noGrp="1"/>
          </p:cNvSpPr>
          <p:nvPr/>
        </p:nvSpPr>
        <p:spPr>
          <a:xfrm>
            <a:off x="9810750" y="63627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2026.06.09 收盘</a:t>
            </a:r>
          </a:p>
        </p:txBody>
      </p:sp>
    </p:spTree>
    <p:extLst>
      <p:ext uri="{BB962C8B-B14F-4D97-AF65-F5344CB8AC3E}">
        <p14:creationId xmlns:p14="http://schemas.microsoft.com/office/powerpoint/2010/main" val="1101299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ackground">
            <a:extLst>
              <a:ext uri="{FF2B5EF4-FFF2-40B4-BE49-F238E27FC236}">
                <a16:creationId xmlns:a16="http://schemas.microsoft.com/office/drawing/2014/main" id="{090C0053-FA15-4537-A822-13887D5DA4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_v_0">
            <a:extLst>
              <a:ext uri="{FF2B5EF4-FFF2-40B4-BE49-F238E27FC236}">
                <a16:creationId xmlns:a16="http://schemas.microsoft.com/office/drawing/2014/main" id="{5CABCA6F-832E-4C8A-87A2-5EDFC6C8E44A}"/>
              </a:ext>
            </a:extLst>
          </p:cNvPr>
          <p:cNvSpPr>
            <a:spLocks noGrp="1"/>
          </p:cNvSpPr>
          <p:nvPr/>
        </p:nvSpPr>
        <p:spPr>
          <a:xfrm>
            <a:off x="1047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grid_v_1">
            <a:extLst>
              <a:ext uri="{FF2B5EF4-FFF2-40B4-BE49-F238E27FC236}">
                <a16:creationId xmlns:a16="http://schemas.microsoft.com/office/drawing/2014/main" id="{18FDF6F3-D1D8-4F5B-9BE4-118FFA83B86E}"/>
              </a:ext>
            </a:extLst>
          </p:cNvPr>
          <p:cNvSpPr>
            <a:spLocks noGrp="1"/>
          </p:cNvSpPr>
          <p:nvPr/>
        </p:nvSpPr>
        <p:spPr>
          <a:xfrm>
            <a:off x="2667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grid_v_2">
            <a:extLst>
              <a:ext uri="{FF2B5EF4-FFF2-40B4-BE49-F238E27FC236}">
                <a16:creationId xmlns:a16="http://schemas.microsoft.com/office/drawing/2014/main" id="{A799F7E3-D3C5-4A46-B8B1-CDDB4BFDDF2C}"/>
              </a:ext>
            </a:extLst>
          </p:cNvPr>
          <p:cNvSpPr>
            <a:spLocks noGrp="1"/>
          </p:cNvSpPr>
          <p:nvPr/>
        </p:nvSpPr>
        <p:spPr>
          <a:xfrm>
            <a:off x="4286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grid_v_3">
            <a:extLst>
              <a:ext uri="{FF2B5EF4-FFF2-40B4-BE49-F238E27FC236}">
                <a16:creationId xmlns:a16="http://schemas.microsoft.com/office/drawing/2014/main" id="{A468B80B-A850-4BDD-8ADE-C48D326E7494}"/>
              </a:ext>
            </a:extLst>
          </p:cNvPr>
          <p:cNvSpPr>
            <a:spLocks noGrp="1"/>
          </p:cNvSpPr>
          <p:nvPr/>
        </p:nvSpPr>
        <p:spPr>
          <a:xfrm>
            <a:off x="59055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grid_v_4">
            <a:extLst>
              <a:ext uri="{FF2B5EF4-FFF2-40B4-BE49-F238E27FC236}">
                <a16:creationId xmlns:a16="http://schemas.microsoft.com/office/drawing/2014/main" id="{D7DA0079-FEF4-4407-B70D-DC9B5B69CDB9}"/>
              </a:ext>
            </a:extLst>
          </p:cNvPr>
          <p:cNvSpPr>
            <a:spLocks noGrp="1"/>
          </p:cNvSpPr>
          <p:nvPr/>
        </p:nvSpPr>
        <p:spPr>
          <a:xfrm>
            <a:off x="7524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grid_v_5">
            <a:extLst>
              <a:ext uri="{FF2B5EF4-FFF2-40B4-BE49-F238E27FC236}">
                <a16:creationId xmlns:a16="http://schemas.microsoft.com/office/drawing/2014/main" id="{E5EDE94E-26BE-4A6F-AA28-04EDBD99D352}"/>
              </a:ext>
            </a:extLst>
          </p:cNvPr>
          <p:cNvSpPr>
            <a:spLocks noGrp="1"/>
          </p:cNvSpPr>
          <p:nvPr/>
        </p:nvSpPr>
        <p:spPr>
          <a:xfrm>
            <a:off x="9144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grid_v_6">
            <a:extLst>
              <a:ext uri="{FF2B5EF4-FFF2-40B4-BE49-F238E27FC236}">
                <a16:creationId xmlns:a16="http://schemas.microsoft.com/office/drawing/2014/main" id="{E4B07FB0-A199-4294-A7AD-15523728BC60}"/>
              </a:ext>
            </a:extLst>
          </p:cNvPr>
          <p:cNvSpPr>
            <a:spLocks noGrp="1"/>
          </p:cNvSpPr>
          <p:nvPr/>
        </p:nvSpPr>
        <p:spPr>
          <a:xfrm>
            <a:off x="10763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C934B3D7-FFF0-4E5D-BFE4-368FF6CA0644}"/>
              </a:ext>
            </a:extLst>
          </p:cNvPr>
          <p:cNvSpPr>
            <a:spLocks noGrp="1"/>
          </p:cNvSpPr>
          <p:nvPr/>
        </p:nvSpPr>
        <p:spPr>
          <a:xfrm>
            <a:off x="914400" y="533400"/>
            <a:ext cx="419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MARKET READ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3A0B6408-B7AA-4547-9D60-FB660101997C}"/>
              </a:ext>
            </a:extLst>
          </p:cNvPr>
          <p:cNvSpPr>
            <a:spLocks noGrp="1"/>
          </p:cNvSpPr>
          <p:nvPr/>
        </p:nvSpPr>
        <p:spPr>
          <a:xfrm>
            <a:off x="914400" y="838200"/>
            <a:ext cx="7620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结论：反弹有效，确认还要等三件事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A55F1B49-57DA-4664-97DE-EFDC78A8B844}"/>
              </a:ext>
            </a:extLst>
          </p:cNvPr>
          <p:cNvSpPr>
            <a:spLocks noGrp="1"/>
          </p:cNvSpPr>
          <p:nvPr/>
        </p:nvSpPr>
        <p:spPr>
          <a:xfrm>
            <a:off x="933450" y="142875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把视频收束在可观察信号，而不是给出过度确定的判断。</a:t>
            </a:r>
          </a:p>
        </p:txBody>
      </p:sp>
      <p:sp>
        <p:nvSpPr>
          <p:cNvPr id="12" name="signal_bar">
            <a:extLst>
              <a:ext uri="{FF2B5EF4-FFF2-40B4-BE49-F238E27FC236}">
                <a16:creationId xmlns:a16="http://schemas.microsoft.com/office/drawing/2014/main" id="{FF606925-A2E6-4A2A-A739-65BA1CACD937}"/>
              </a:ext>
            </a:extLst>
          </p:cNvPr>
          <p:cNvSpPr>
            <a:spLocks noGrp="1"/>
          </p:cNvSpPr>
          <p:nvPr/>
        </p:nvSpPr>
        <p:spPr>
          <a:xfrm>
            <a:off x="7239000" y="5962650"/>
            <a:ext cx="2381250" cy="47625"/>
          </a:xfrm>
          <a:prstGeom prst="roundRect">
            <a:avLst>
              <a:gd name="adj" fmla="val 50000"/>
            </a:avLst>
          </a:prstGeom>
          <a:solidFill>
            <a:srgbClr val="F7F7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ignal_tail">
            <a:extLst>
              <a:ext uri="{FF2B5EF4-FFF2-40B4-BE49-F238E27FC236}">
                <a16:creationId xmlns:a16="http://schemas.microsoft.com/office/drawing/2014/main" id="{74960D9F-6AE9-4DB2-B20A-1F9536AE2817}"/>
              </a:ext>
            </a:extLst>
          </p:cNvPr>
          <p:cNvSpPr>
            <a:spLocks noGrp="1"/>
          </p:cNvSpPr>
          <p:nvPr/>
        </p:nvSpPr>
        <p:spPr>
          <a:xfrm>
            <a:off x="9715500" y="5981700"/>
            <a:ext cx="55245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num_0">
            <a:extLst>
              <a:ext uri="{FF2B5EF4-FFF2-40B4-BE49-F238E27FC236}">
                <a16:creationId xmlns:a16="http://schemas.microsoft.com/office/drawing/2014/main" id="{3953494B-65E8-41AA-AB5C-2D2E9AE66F94}"/>
              </a:ext>
            </a:extLst>
          </p:cNvPr>
          <p:cNvSpPr>
            <a:spLocks noGrp="1"/>
          </p:cNvSpPr>
          <p:nvPr/>
        </p:nvSpPr>
        <p:spPr>
          <a:xfrm>
            <a:off x="1257300" y="2228850"/>
            <a:ext cx="76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0A84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A84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5" name="line_0">
            <a:extLst>
              <a:ext uri="{FF2B5EF4-FFF2-40B4-BE49-F238E27FC236}">
                <a16:creationId xmlns:a16="http://schemas.microsoft.com/office/drawing/2014/main" id="{75B2291F-75AF-44C3-BC7D-53E9F025F1C3}"/>
              </a:ext>
            </a:extLst>
          </p:cNvPr>
          <p:cNvSpPr>
            <a:spLocks noGrp="1"/>
          </p:cNvSpPr>
          <p:nvPr/>
        </p:nvSpPr>
        <p:spPr>
          <a:xfrm>
            <a:off x="1257300" y="2886075"/>
            <a:ext cx="2266950" cy="11430"/>
          </a:xfrm>
          <a:prstGeom prst="rect">
            <a:avLst/>
          </a:prstGeom>
          <a:solidFill>
            <a:srgbClr val="FFFFFF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ignal_title_0">
            <a:extLst>
              <a:ext uri="{FF2B5EF4-FFF2-40B4-BE49-F238E27FC236}">
                <a16:creationId xmlns:a16="http://schemas.microsoft.com/office/drawing/2014/main" id="{DF772780-BA91-4703-B8F2-7BD8BF49FBE2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4000点</a:t>
            </a:r>
          </a:p>
        </p:txBody>
      </p:sp>
      <p:sp>
        <p:nvSpPr>
          <p:cNvPr id="17" name="signal_text_0">
            <a:extLst>
              <a:ext uri="{FF2B5EF4-FFF2-40B4-BE49-F238E27FC236}">
                <a16:creationId xmlns:a16="http://schemas.microsoft.com/office/drawing/2014/main" id="{48113588-7D2E-4060-952E-B18541D68162}"/>
              </a:ext>
            </a:extLst>
          </p:cNvPr>
          <p:cNvSpPr>
            <a:spLocks noGrp="1"/>
          </p:cNvSpPr>
          <p:nvPr/>
        </p:nvSpPr>
        <p:spPr>
          <a:xfrm>
            <a:off x="1257300" y="3581400"/>
            <a:ext cx="247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重新站上只是第一步，回踩不破才是更强信号。</a:t>
            </a:r>
          </a:p>
        </p:txBody>
      </p:sp>
      <p:sp>
        <p:nvSpPr>
          <p:cNvPr id="18" name="num_1">
            <a:extLst>
              <a:ext uri="{FF2B5EF4-FFF2-40B4-BE49-F238E27FC236}">
                <a16:creationId xmlns:a16="http://schemas.microsoft.com/office/drawing/2014/main" id="{30EAD8B5-EF3A-41CD-A1C6-0FABE9AB188A}"/>
              </a:ext>
            </a:extLst>
          </p:cNvPr>
          <p:cNvSpPr>
            <a:spLocks noGrp="1"/>
          </p:cNvSpPr>
          <p:nvPr/>
        </p:nvSpPr>
        <p:spPr>
          <a:xfrm>
            <a:off x="4591050" y="2228850"/>
            <a:ext cx="76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453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9" name="line_1">
            <a:extLst>
              <a:ext uri="{FF2B5EF4-FFF2-40B4-BE49-F238E27FC236}">
                <a16:creationId xmlns:a16="http://schemas.microsoft.com/office/drawing/2014/main" id="{9E631DF5-B91D-49DE-B2CE-B8539078DCF9}"/>
              </a:ext>
            </a:extLst>
          </p:cNvPr>
          <p:cNvSpPr>
            <a:spLocks noGrp="1"/>
          </p:cNvSpPr>
          <p:nvPr/>
        </p:nvSpPr>
        <p:spPr>
          <a:xfrm>
            <a:off x="4591050" y="2886075"/>
            <a:ext cx="2266950" cy="11430"/>
          </a:xfrm>
          <a:prstGeom prst="rect">
            <a:avLst/>
          </a:prstGeom>
          <a:solidFill>
            <a:srgbClr val="FFFFFF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ignal_title_1">
            <a:extLst>
              <a:ext uri="{FF2B5EF4-FFF2-40B4-BE49-F238E27FC236}">
                <a16:creationId xmlns:a16="http://schemas.microsoft.com/office/drawing/2014/main" id="{483357FA-3933-4C47-8715-773FDFFF9B41}"/>
              </a:ext>
            </a:extLst>
          </p:cNvPr>
          <p:cNvSpPr>
            <a:spLocks noGrp="1"/>
          </p:cNvSpPr>
          <p:nvPr/>
        </p:nvSpPr>
        <p:spPr>
          <a:xfrm>
            <a:off x="4591050" y="31242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成交额</a:t>
            </a:r>
          </a:p>
        </p:txBody>
      </p:sp>
      <p:sp>
        <p:nvSpPr>
          <p:cNvPr id="21" name="signal_text_1">
            <a:extLst>
              <a:ext uri="{FF2B5EF4-FFF2-40B4-BE49-F238E27FC236}">
                <a16:creationId xmlns:a16="http://schemas.microsoft.com/office/drawing/2014/main" id="{E1A1F2E0-8E1A-4926-815D-62FF66C50440}"/>
              </a:ext>
            </a:extLst>
          </p:cNvPr>
          <p:cNvSpPr>
            <a:spLocks noGrp="1"/>
          </p:cNvSpPr>
          <p:nvPr/>
        </p:nvSpPr>
        <p:spPr>
          <a:xfrm>
            <a:off x="4591050" y="3581400"/>
            <a:ext cx="247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若科技链继续放量，修复会更像趋势而非单日反抽。</a:t>
            </a:r>
          </a:p>
        </p:txBody>
      </p:sp>
      <p:sp>
        <p:nvSpPr>
          <p:cNvPr id="22" name="num_2">
            <a:extLst>
              <a:ext uri="{FF2B5EF4-FFF2-40B4-BE49-F238E27FC236}">
                <a16:creationId xmlns:a16="http://schemas.microsoft.com/office/drawing/2014/main" id="{3D87A5F8-3298-4957-B234-F05C22DE8799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762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7F8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3" name="line_2">
            <a:extLst>
              <a:ext uri="{FF2B5EF4-FFF2-40B4-BE49-F238E27FC236}">
                <a16:creationId xmlns:a16="http://schemas.microsoft.com/office/drawing/2014/main" id="{F09B6C2F-6922-42E3-9B22-E7D63E527CFE}"/>
              </a:ext>
            </a:extLst>
          </p:cNvPr>
          <p:cNvSpPr>
            <a:spLocks noGrp="1"/>
          </p:cNvSpPr>
          <p:nvPr/>
        </p:nvSpPr>
        <p:spPr>
          <a:xfrm>
            <a:off x="7924800" y="2886075"/>
            <a:ext cx="2266950" cy="11430"/>
          </a:xfrm>
          <a:prstGeom prst="rect">
            <a:avLst/>
          </a:prstGeom>
          <a:solidFill>
            <a:srgbClr val="FFFFFF">
              <a:alpha val="18824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ignal_title_2">
            <a:extLst>
              <a:ext uri="{FF2B5EF4-FFF2-40B4-BE49-F238E27FC236}">
                <a16:creationId xmlns:a16="http://schemas.microsoft.com/office/drawing/2014/main" id="{4993036F-473E-4592-81BF-7ED2BD33F2B2}"/>
              </a:ext>
            </a:extLst>
          </p:cNvPr>
          <p:cNvSpPr>
            <a:spLocks noGrp="1"/>
          </p:cNvSpPr>
          <p:nvPr/>
        </p:nvSpPr>
        <p:spPr>
          <a:xfrm>
            <a:off x="7924800" y="31242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扩散度</a:t>
            </a:r>
          </a:p>
        </p:txBody>
      </p:sp>
      <p:sp>
        <p:nvSpPr>
          <p:cNvPr id="25" name="signal_text_2">
            <a:extLst>
              <a:ext uri="{FF2B5EF4-FFF2-40B4-BE49-F238E27FC236}">
                <a16:creationId xmlns:a16="http://schemas.microsoft.com/office/drawing/2014/main" id="{38F82B97-0A6F-4FB2-9187-368553357BE4}"/>
              </a:ext>
            </a:extLst>
          </p:cNvPr>
          <p:cNvSpPr>
            <a:spLocks noGrp="1"/>
          </p:cNvSpPr>
          <p:nvPr/>
        </p:nvSpPr>
        <p:spPr>
          <a:xfrm>
            <a:off x="7924800" y="3581400"/>
            <a:ext cx="2476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关注上涨行业数量与个股上涨家数能否维持高位。</a:t>
            </a:r>
          </a:p>
        </p:txBody>
      </p:sp>
      <p:sp>
        <p:nvSpPr>
          <p:cNvPr id="26" name="voiceover">
            <a:extLst>
              <a:ext uri="{FF2B5EF4-FFF2-40B4-BE49-F238E27FC236}">
                <a16:creationId xmlns:a16="http://schemas.microsoft.com/office/drawing/2014/main" id="{441F34A9-8709-4DB7-BAD8-AF0D1A202BE7}"/>
              </a:ext>
            </a:extLst>
          </p:cNvPr>
          <p:cNvSpPr>
            <a:spLocks noGrp="1"/>
          </p:cNvSpPr>
          <p:nvPr/>
        </p:nvSpPr>
        <p:spPr>
          <a:xfrm>
            <a:off x="2981325" y="5219700"/>
            <a:ext cx="62293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4706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7" name="voiceover_txt">
            <a:extLst>
              <a:ext uri="{FF2B5EF4-FFF2-40B4-BE49-F238E27FC236}">
                <a16:creationId xmlns:a16="http://schemas.microsoft.com/office/drawing/2014/main" id="{26F0D4B5-46DA-4365-97FE-375F696E0072}"/>
              </a:ext>
            </a:extLst>
          </p:cNvPr>
          <p:cNvSpPr>
            <a:spLocks noGrp="1"/>
          </p:cNvSpPr>
          <p:nvPr/>
        </p:nvSpPr>
        <p:spPr>
          <a:xfrm>
            <a:off x="3114675" y="5295900"/>
            <a:ext cx="596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视频旁白主句：跌破后修复，科技链领先，确认看持续性。</a:t>
            </a:r>
          </a:p>
        </p:txBody>
      </p:sp>
      <p:sp>
        <p:nvSpPr>
          <p:cNvPr id="28" name="footer_rule">
            <a:extLst>
              <a:ext uri="{FF2B5EF4-FFF2-40B4-BE49-F238E27FC236}">
                <a16:creationId xmlns:a16="http://schemas.microsoft.com/office/drawing/2014/main" id="{850A80ED-CD9D-4E1B-A3A0-2721BCCE1533}"/>
              </a:ext>
            </a:extLst>
          </p:cNvPr>
          <p:cNvSpPr>
            <a:spLocks noGrp="1"/>
          </p:cNvSpPr>
          <p:nvPr/>
        </p:nvSpPr>
        <p:spPr>
          <a:xfrm>
            <a:off x="914400" y="6229350"/>
            <a:ext cx="10363200" cy="11430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_source">
            <a:extLst>
              <a:ext uri="{FF2B5EF4-FFF2-40B4-BE49-F238E27FC236}">
                <a16:creationId xmlns:a16="http://schemas.microsoft.com/office/drawing/2014/main" id="{057771BC-F320-4362-8A20-F0A372F81EC4}"/>
              </a:ext>
            </a:extLst>
          </p:cNvPr>
          <p:cNvSpPr>
            <a:spLocks noGrp="1"/>
          </p:cNvSpPr>
          <p:nvPr/>
        </p:nvSpPr>
        <p:spPr>
          <a:xfrm>
            <a:off x="914400" y="63627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本页为基于公开行情数据的市场观察，不构成投资建议</a:t>
            </a:r>
          </a:p>
        </p:txBody>
      </p:sp>
      <p:sp>
        <p:nvSpPr>
          <p:cNvPr id="30" name="as_of">
            <a:extLst>
              <a:ext uri="{FF2B5EF4-FFF2-40B4-BE49-F238E27FC236}">
                <a16:creationId xmlns:a16="http://schemas.microsoft.com/office/drawing/2014/main" id="{2E47ACA4-0AD5-4737-AC96-064466F8DFA5}"/>
              </a:ext>
            </a:extLst>
          </p:cNvPr>
          <p:cNvSpPr>
            <a:spLocks noGrp="1"/>
          </p:cNvSpPr>
          <p:nvPr/>
        </p:nvSpPr>
        <p:spPr>
          <a:xfrm>
            <a:off x="9810750" y="63627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2026.06.09 收盘</a:t>
            </a:r>
          </a:p>
        </p:txBody>
      </p:sp>
    </p:spTree>
    <p:extLst>
      <p:ext uri="{BB962C8B-B14F-4D97-AF65-F5344CB8AC3E}">
        <p14:creationId xmlns:p14="http://schemas.microsoft.com/office/powerpoint/2010/main" val="1061583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ackground">
            <a:extLst>
              <a:ext uri="{FF2B5EF4-FFF2-40B4-BE49-F238E27FC236}">
                <a16:creationId xmlns:a16="http://schemas.microsoft.com/office/drawing/2014/main" id="{72C2F1AD-8DD3-4745-B6F7-79BC0802C9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grid_v_0">
            <a:extLst>
              <a:ext uri="{FF2B5EF4-FFF2-40B4-BE49-F238E27FC236}">
                <a16:creationId xmlns:a16="http://schemas.microsoft.com/office/drawing/2014/main" id="{A1658946-E413-42B5-961C-24E4045D316D}"/>
              </a:ext>
            </a:extLst>
          </p:cNvPr>
          <p:cNvSpPr>
            <a:spLocks noGrp="1"/>
          </p:cNvSpPr>
          <p:nvPr/>
        </p:nvSpPr>
        <p:spPr>
          <a:xfrm>
            <a:off x="1047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grid_v_1">
            <a:extLst>
              <a:ext uri="{FF2B5EF4-FFF2-40B4-BE49-F238E27FC236}">
                <a16:creationId xmlns:a16="http://schemas.microsoft.com/office/drawing/2014/main" id="{E3829DC0-9583-4E31-9E93-A741A579D78E}"/>
              </a:ext>
            </a:extLst>
          </p:cNvPr>
          <p:cNvSpPr>
            <a:spLocks noGrp="1"/>
          </p:cNvSpPr>
          <p:nvPr/>
        </p:nvSpPr>
        <p:spPr>
          <a:xfrm>
            <a:off x="2667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grid_v_2">
            <a:extLst>
              <a:ext uri="{FF2B5EF4-FFF2-40B4-BE49-F238E27FC236}">
                <a16:creationId xmlns:a16="http://schemas.microsoft.com/office/drawing/2014/main" id="{93C71ED5-4F8C-4391-B33B-C8C5EBE218D2}"/>
              </a:ext>
            </a:extLst>
          </p:cNvPr>
          <p:cNvSpPr>
            <a:spLocks noGrp="1"/>
          </p:cNvSpPr>
          <p:nvPr/>
        </p:nvSpPr>
        <p:spPr>
          <a:xfrm>
            <a:off x="4286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grid_v_3">
            <a:extLst>
              <a:ext uri="{FF2B5EF4-FFF2-40B4-BE49-F238E27FC236}">
                <a16:creationId xmlns:a16="http://schemas.microsoft.com/office/drawing/2014/main" id="{7B37B856-2CA8-48CA-8CB5-15C2EE8408BD}"/>
              </a:ext>
            </a:extLst>
          </p:cNvPr>
          <p:cNvSpPr>
            <a:spLocks noGrp="1"/>
          </p:cNvSpPr>
          <p:nvPr/>
        </p:nvSpPr>
        <p:spPr>
          <a:xfrm>
            <a:off x="59055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grid_v_4">
            <a:extLst>
              <a:ext uri="{FF2B5EF4-FFF2-40B4-BE49-F238E27FC236}">
                <a16:creationId xmlns:a16="http://schemas.microsoft.com/office/drawing/2014/main" id="{B0954F7A-9AFD-4254-B5FE-01B27376702D}"/>
              </a:ext>
            </a:extLst>
          </p:cNvPr>
          <p:cNvSpPr>
            <a:spLocks noGrp="1"/>
          </p:cNvSpPr>
          <p:nvPr/>
        </p:nvSpPr>
        <p:spPr>
          <a:xfrm>
            <a:off x="75247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grid_v_5">
            <a:extLst>
              <a:ext uri="{FF2B5EF4-FFF2-40B4-BE49-F238E27FC236}">
                <a16:creationId xmlns:a16="http://schemas.microsoft.com/office/drawing/2014/main" id="{9F2DB5BC-39AF-4E33-9EAB-C4FCEDBF1356}"/>
              </a:ext>
            </a:extLst>
          </p:cNvPr>
          <p:cNvSpPr>
            <a:spLocks noGrp="1"/>
          </p:cNvSpPr>
          <p:nvPr/>
        </p:nvSpPr>
        <p:spPr>
          <a:xfrm>
            <a:off x="914400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grid_v_6">
            <a:extLst>
              <a:ext uri="{FF2B5EF4-FFF2-40B4-BE49-F238E27FC236}">
                <a16:creationId xmlns:a16="http://schemas.microsoft.com/office/drawing/2014/main" id="{31F9CE0C-181F-44B6-B5DD-0CE5DC93BE3A}"/>
              </a:ext>
            </a:extLst>
          </p:cNvPr>
          <p:cNvSpPr>
            <a:spLocks noGrp="1"/>
          </p:cNvSpPr>
          <p:nvPr/>
        </p:nvSpPr>
        <p:spPr>
          <a:xfrm>
            <a:off x="10763250" y="609600"/>
            <a:ext cx="9525" cy="5638800"/>
          </a:xfrm>
          <a:prstGeom prst="rect">
            <a:avLst/>
          </a:prstGeom>
          <a:solidFill>
            <a:srgbClr val="FFFFFF">
              <a:alpha val="313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4AA18CDF-2E7C-491C-87BE-29BBD6CDF811}"/>
              </a:ext>
            </a:extLst>
          </p:cNvPr>
          <p:cNvSpPr>
            <a:spLocks noGrp="1"/>
          </p:cNvSpPr>
          <p:nvPr/>
        </p:nvSpPr>
        <p:spPr>
          <a:xfrm>
            <a:off x="914400" y="533400"/>
            <a:ext cx="419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SOURCES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D81E0A1F-E834-42F5-AC81-C36E3A3939CD}"/>
              </a:ext>
            </a:extLst>
          </p:cNvPr>
          <p:cNvSpPr>
            <a:spLocks noGrp="1"/>
          </p:cNvSpPr>
          <p:nvPr/>
        </p:nvSpPr>
        <p:spPr>
          <a:xfrm>
            <a:off x="914400" y="838200"/>
            <a:ext cx="7620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来源与口径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8A63FAB2-6467-417D-B43B-4D1C932BCCB3}"/>
              </a:ext>
            </a:extLst>
          </p:cNvPr>
          <p:cNvSpPr>
            <a:spLocks noGrp="1"/>
          </p:cNvSpPr>
          <p:nvPr/>
        </p:nvSpPr>
        <p:spPr>
          <a:xfrm>
            <a:off x="933450" y="1428750"/>
            <a:ext cx="6667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用于复核本演示中的指数、行业与市场宽度数据。</a:t>
            </a:r>
          </a:p>
        </p:txBody>
      </p:sp>
      <p:sp>
        <p:nvSpPr>
          <p:cNvPr id="12" name="signal_bar">
            <a:extLst>
              <a:ext uri="{FF2B5EF4-FFF2-40B4-BE49-F238E27FC236}">
                <a16:creationId xmlns:a16="http://schemas.microsoft.com/office/drawing/2014/main" id="{C4D82564-DA58-4093-9BA7-6EE07CB5D15A}"/>
              </a:ext>
            </a:extLst>
          </p:cNvPr>
          <p:cNvSpPr>
            <a:spLocks noGrp="1"/>
          </p:cNvSpPr>
          <p:nvPr/>
        </p:nvSpPr>
        <p:spPr>
          <a:xfrm>
            <a:off x="8591550" y="5962650"/>
            <a:ext cx="2190750" cy="47625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ignal_tail">
            <a:extLst>
              <a:ext uri="{FF2B5EF4-FFF2-40B4-BE49-F238E27FC236}">
                <a16:creationId xmlns:a16="http://schemas.microsoft.com/office/drawing/2014/main" id="{7BD8412D-0408-41FD-8039-1703EC35269D}"/>
              </a:ext>
            </a:extLst>
          </p:cNvPr>
          <p:cNvSpPr>
            <a:spLocks noGrp="1"/>
          </p:cNvSpPr>
          <p:nvPr/>
        </p:nvSpPr>
        <p:spPr>
          <a:xfrm>
            <a:off x="10877550" y="5981700"/>
            <a:ext cx="55245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able_panel">
            <a:extLst>
              <a:ext uri="{FF2B5EF4-FFF2-40B4-BE49-F238E27FC236}">
                <a16:creationId xmlns:a16="http://schemas.microsoft.com/office/drawing/2014/main" id="{047EA7E1-36F0-41F6-A204-6FDD947B7603}"/>
              </a:ext>
            </a:extLst>
          </p:cNvPr>
          <p:cNvSpPr>
            <a:spLocks noGrp="1"/>
          </p:cNvSpPr>
          <p:nvPr/>
        </p:nvSpPr>
        <p:spPr>
          <a:xfrm>
            <a:off x="1123950" y="2190750"/>
            <a:ext cx="9963150" cy="2952750"/>
          </a:xfrm>
          <a:prstGeom prst="roundRect">
            <a:avLst>
              <a:gd name="adj" fmla="val 2581"/>
            </a:avLst>
          </a:prstGeom>
          <a:solidFill>
            <a:srgbClr val="FFFFFF">
              <a:alpha val="2353"/>
            </a:srgbClr>
          </a:solidFill>
          <a:ln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5" name="h1">
            <a:extLst>
              <a:ext uri="{FF2B5EF4-FFF2-40B4-BE49-F238E27FC236}">
                <a16:creationId xmlns:a16="http://schemas.microsoft.com/office/drawing/2014/main" id="{480E3C82-E9FD-4DA8-83F4-B93502315CD4}"/>
              </a:ext>
            </a:extLst>
          </p:cNvPr>
          <p:cNvSpPr>
            <a:spLocks noGrp="1"/>
          </p:cNvSpPr>
          <p:nvPr/>
        </p:nvSpPr>
        <p:spPr>
          <a:xfrm>
            <a:off x="1409700" y="2419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来源</a:t>
            </a:r>
          </a:p>
        </p:txBody>
      </p:sp>
      <p:sp>
        <p:nvSpPr>
          <p:cNvPr id="16" name="h2">
            <a:extLst>
              <a:ext uri="{FF2B5EF4-FFF2-40B4-BE49-F238E27FC236}">
                <a16:creationId xmlns:a16="http://schemas.microsoft.com/office/drawing/2014/main" id="{27BDA577-05A5-4BC3-BDF8-47322B09361A}"/>
              </a:ext>
            </a:extLst>
          </p:cNvPr>
          <p:cNvSpPr>
            <a:spLocks noGrp="1"/>
          </p:cNvSpPr>
          <p:nvPr/>
        </p:nvSpPr>
        <p:spPr>
          <a:xfrm>
            <a:off x="3200400" y="24193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数据项</a:t>
            </a:r>
          </a:p>
        </p:txBody>
      </p:sp>
      <p:sp>
        <p:nvSpPr>
          <p:cNvPr id="17" name="h3">
            <a:extLst>
              <a:ext uri="{FF2B5EF4-FFF2-40B4-BE49-F238E27FC236}">
                <a16:creationId xmlns:a16="http://schemas.microsoft.com/office/drawing/2014/main" id="{8E054C10-FEC9-4DF4-92E8-B996CD8B1548}"/>
              </a:ext>
            </a:extLst>
          </p:cNvPr>
          <p:cNvSpPr>
            <a:spLocks noGrp="1"/>
          </p:cNvSpPr>
          <p:nvPr/>
        </p:nvSpPr>
        <p:spPr>
          <a:xfrm>
            <a:off x="6877050" y="2419350"/>
            <a:ext cx="3524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链接</a:t>
            </a:r>
          </a:p>
        </p:txBody>
      </p:sp>
      <p:sp>
        <p:nvSpPr>
          <p:cNvPr id="18" name="row_rule_0">
            <a:extLst>
              <a:ext uri="{FF2B5EF4-FFF2-40B4-BE49-F238E27FC236}">
                <a16:creationId xmlns:a16="http://schemas.microsoft.com/office/drawing/2014/main" id="{913F372F-1106-4C07-A9A4-67311B537EEF}"/>
              </a:ext>
            </a:extLst>
          </p:cNvPr>
          <p:cNvSpPr>
            <a:spLocks noGrp="1"/>
          </p:cNvSpPr>
          <p:nvPr/>
        </p:nvSpPr>
        <p:spPr>
          <a:xfrm>
            <a:off x="1409700" y="2781300"/>
            <a:ext cx="9391650" cy="9525"/>
          </a:xfrm>
          <a:prstGeom prst="rect">
            <a:avLst/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rc_0">
            <a:extLst>
              <a:ext uri="{FF2B5EF4-FFF2-40B4-BE49-F238E27FC236}">
                <a16:creationId xmlns:a16="http://schemas.microsoft.com/office/drawing/2014/main" id="{E53C7373-C868-4CDB-A25D-2280AC7C8E40}"/>
              </a:ext>
            </a:extLst>
          </p:cNvPr>
          <p:cNvSpPr>
            <a:spLocks noGrp="1"/>
          </p:cNvSpPr>
          <p:nvPr/>
        </p:nvSpPr>
        <p:spPr>
          <a:xfrm>
            <a:off x="1409700" y="28956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同花顺财经</a:t>
            </a:r>
          </a:p>
        </p:txBody>
      </p:sp>
      <p:sp>
        <p:nvSpPr>
          <p:cNvPr id="20" name="item_0">
            <a:extLst>
              <a:ext uri="{FF2B5EF4-FFF2-40B4-BE49-F238E27FC236}">
                <a16:creationId xmlns:a16="http://schemas.microsoft.com/office/drawing/2014/main" id="{BE55986C-70AB-4823-8003-2D4F681BA1AB}"/>
              </a:ext>
            </a:extLst>
          </p:cNvPr>
          <p:cNvSpPr>
            <a:spLocks noGrp="1"/>
          </p:cNvSpPr>
          <p:nvPr/>
        </p:nvSpPr>
        <p:spPr>
          <a:xfrm>
            <a:off x="3200400" y="289560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A股每日行情复盘 2026.06.09</a:t>
            </a:r>
          </a:p>
        </p:txBody>
      </p:sp>
      <p:sp>
        <p:nvSpPr>
          <p:cNvPr id="21" name="url_0">
            <a:extLst>
              <a:ext uri="{FF2B5EF4-FFF2-40B4-BE49-F238E27FC236}">
                <a16:creationId xmlns:a16="http://schemas.microsoft.com/office/drawing/2014/main" id="{16667FB8-1A51-4600-A106-EE688D7B4781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A9A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A9AA2"/>
                </a:solidFill>
                <a:latin typeface="Aptos"/>
                <a:ea typeface="Aptos"/>
                <a:cs typeface="Aptos"/>
              </a:rPr>
              <a:t>news.10jqka.com.cn/20260609/c677321843.shtml</a:t>
            </a:r>
          </a:p>
        </p:txBody>
      </p:sp>
      <p:sp>
        <p:nvSpPr>
          <p:cNvPr id="22" name="row_rule_1">
            <a:extLst>
              <a:ext uri="{FF2B5EF4-FFF2-40B4-BE49-F238E27FC236}">
                <a16:creationId xmlns:a16="http://schemas.microsoft.com/office/drawing/2014/main" id="{D9012F2B-D40B-4176-9BCA-24F6BC93B6F9}"/>
              </a:ext>
            </a:extLst>
          </p:cNvPr>
          <p:cNvSpPr>
            <a:spLocks noGrp="1"/>
          </p:cNvSpPr>
          <p:nvPr/>
        </p:nvSpPr>
        <p:spPr>
          <a:xfrm>
            <a:off x="1409700" y="3190875"/>
            <a:ext cx="9391650" cy="9525"/>
          </a:xfrm>
          <a:prstGeom prst="rect">
            <a:avLst/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rc_1">
            <a:extLst>
              <a:ext uri="{FF2B5EF4-FFF2-40B4-BE49-F238E27FC236}">
                <a16:creationId xmlns:a16="http://schemas.microsoft.com/office/drawing/2014/main" id="{98281D47-36A4-4590-AA92-96758E502544}"/>
              </a:ext>
            </a:extLst>
          </p:cNvPr>
          <p:cNvSpPr>
            <a:spLocks noGrp="1"/>
          </p:cNvSpPr>
          <p:nvPr/>
        </p:nvSpPr>
        <p:spPr>
          <a:xfrm>
            <a:off x="1409700" y="330517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同花顺财经</a:t>
            </a:r>
          </a:p>
        </p:txBody>
      </p:sp>
      <p:sp>
        <p:nvSpPr>
          <p:cNvPr id="24" name="item_1">
            <a:extLst>
              <a:ext uri="{FF2B5EF4-FFF2-40B4-BE49-F238E27FC236}">
                <a16:creationId xmlns:a16="http://schemas.microsoft.com/office/drawing/2014/main" id="{BFADFEF5-AA4C-4C4E-BB6F-75C944098D38}"/>
              </a:ext>
            </a:extLst>
          </p:cNvPr>
          <p:cNvSpPr>
            <a:spLocks noGrp="1"/>
          </p:cNvSpPr>
          <p:nvPr/>
        </p:nvSpPr>
        <p:spPr>
          <a:xfrm>
            <a:off x="3200400" y="3305175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A股每日行情复盘 2026.06.08</a:t>
            </a:r>
          </a:p>
        </p:txBody>
      </p:sp>
      <p:sp>
        <p:nvSpPr>
          <p:cNvPr id="25" name="url_1">
            <a:extLst>
              <a:ext uri="{FF2B5EF4-FFF2-40B4-BE49-F238E27FC236}">
                <a16:creationId xmlns:a16="http://schemas.microsoft.com/office/drawing/2014/main" id="{9FF71FAD-5BD5-4A96-9EA5-84DB06A91250}"/>
              </a:ext>
            </a:extLst>
          </p:cNvPr>
          <p:cNvSpPr>
            <a:spLocks noGrp="1"/>
          </p:cNvSpPr>
          <p:nvPr/>
        </p:nvSpPr>
        <p:spPr>
          <a:xfrm>
            <a:off x="6877050" y="3305175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A9A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A9AA2"/>
                </a:solidFill>
                <a:latin typeface="Aptos"/>
                <a:ea typeface="Aptos"/>
                <a:cs typeface="Aptos"/>
              </a:rPr>
              <a:t>news.10jqka.com.cn/20260608/c677288535.shtml</a:t>
            </a:r>
          </a:p>
        </p:txBody>
      </p:sp>
      <p:sp>
        <p:nvSpPr>
          <p:cNvPr id="26" name="row_rule_2">
            <a:extLst>
              <a:ext uri="{FF2B5EF4-FFF2-40B4-BE49-F238E27FC236}">
                <a16:creationId xmlns:a16="http://schemas.microsoft.com/office/drawing/2014/main" id="{AF7389A0-4B3B-4CAD-8551-6A95AD56C662}"/>
              </a:ext>
            </a:extLst>
          </p:cNvPr>
          <p:cNvSpPr>
            <a:spLocks noGrp="1"/>
          </p:cNvSpPr>
          <p:nvPr/>
        </p:nvSpPr>
        <p:spPr>
          <a:xfrm>
            <a:off x="1409700" y="3600450"/>
            <a:ext cx="9391650" cy="9525"/>
          </a:xfrm>
          <a:prstGeom prst="rect">
            <a:avLst/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rc_2">
            <a:extLst>
              <a:ext uri="{FF2B5EF4-FFF2-40B4-BE49-F238E27FC236}">
                <a16:creationId xmlns:a16="http://schemas.microsoft.com/office/drawing/2014/main" id="{13E07582-D873-43E6-B507-B3AADC3E8D41}"/>
              </a:ext>
            </a:extLst>
          </p:cNvPr>
          <p:cNvSpPr>
            <a:spLocks noGrp="1"/>
          </p:cNvSpPr>
          <p:nvPr/>
        </p:nvSpPr>
        <p:spPr>
          <a:xfrm>
            <a:off x="1409700" y="37147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同花顺财经</a:t>
            </a:r>
          </a:p>
        </p:txBody>
      </p:sp>
      <p:sp>
        <p:nvSpPr>
          <p:cNvPr id="28" name="item_2">
            <a:extLst>
              <a:ext uri="{FF2B5EF4-FFF2-40B4-BE49-F238E27FC236}">
                <a16:creationId xmlns:a16="http://schemas.microsoft.com/office/drawing/2014/main" id="{6388CEBE-93E7-4506-BAC6-F7C239512C1F}"/>
              </a:ext>
            </a:extLst>
          </p:cNvPr>
          <p:cNvSpPr>
            <a:spLocks noGrp="1"/>
          </p:cNvSpPr>
          <p:nvPr/>
        </p:nvSpPr>
        <p:spPr>
          <a:xfrm>
            <a:off x="3200400" y="371475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A股每日行情复盘 2026.06.05</a:t>
            </a:r>
          </a:p>
        </p:txBody>
      </p:sp>
      <p:sp>
        <p:nvSpPr>
          <p:cNvPr id="29" name="url_2">
            <a:extLst>
              <a:ext uri="{FF2B5EF4-FFF2-40B4-BE49-F238E27FC236}">
                <a16:creationId xmlns:a16="http://schemas.microsoft.com/office/drawing/2014/main" id="{0CA4C858-8777-43F4-AD45-48EA912ADA5D}"/>
              </a:ext>
            </a:extLst>
          </p:cNvPr>
          <p:cNvSpPr>
            <a:spLocks noGrp="1"/>
          </p:cNvSpPr>
          <p:nvPr/>
        </p:nvSpPr>
        <p:spPr>
          <a:xfrm>
            <a:off x="6877050" y="371475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A9A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A9AA2"/>
                </a:solidFill>
                <a:latin typeface="Aptos"/>
                <a:ea typeface="Aptos"/>
                <a:cs typeface="Aptos"/>
              </a:rPr>
              <a:t>news.10jqka.com.cn/20260605/c677246360.shtml</a:t>
            </a:r>
          </a:p>
        </p:txBody>
      </p:sp>
      <p:sp>
        <p:nvSpPr>
          <p:cNvPr id="30" name="row_rule_3">
            <a:extLst>
              <a:ext uri="{FF2B5EF4-FFF2-40B4-BE49-F238E27FC236}">
                <a16:creationId xmlns:a16="http://schemas.microsoft.com/office/drawing/2014/main" id="{D3346535-D896-4F87-B260-5188CAA2A126}"/>
              </a:ext>
            </a:extLst>
          </p:cNvPr>
          <p:cNvSpPr>
            <a:spLocks noGrp="1"/>
          </p:cNvSpPr>
          <p:nvPr/>
        </p:nvSpPr>
        <p:spPr>
          <a:xfrm>
            <a:off x="1409700" y="4010025"/>
            <a:ext cx="9391650" cy="9525"/>
          </a:xfrm>
          <a:prstGeom prst="rect">
            <a:avLst/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rc_3">
            <a:extLst>
              <a:ext uri="{FF2B5EF4-FFF2-40B4-BE49-F238E27FC236}">
                <a16:creationId xmlns:a16="http://schemas.microsoft.com/office/drawing/2014/main" id="{6DDF95B3-C621-4354-826A-6E143BED0073}"/>
              </a:ext>
            </a:extLst>
          </p:cNvPr>
          <p:cNvSpPr>
            <a:spLocks noGrp="1"/>
          </p:cNvSpPr>
          <p:nvPr/>
        </p:nvSpPr>
        <p:spPr>
          <a:xfrm>
            <a:off x="1409700" y="412432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同花顺财经</a:t>
            </a:r>
          </a:p>
        </p:txBody>
      </p:sp>
      <p:sp>
        <p:nvSpPr>
          <p:cNvPr id="32" name="item_3">
            <a:extLst>
              <a:ext uri="{FF2B5EF4-FFF2-40B4-BE49-F238E27FC236}">
                <a16:creationId xmlns:a16="http://schemas.microsoft.com/office/drawing/2014/main" id="{9C2E230F-B918-4A00-B191-A4F86CAA589B}"/>
              </a:ext>
            </a:extLst>
          </p:cNvPr>
          <p:cNvSpPr>
            <a:spLocks noGrp="1"/>
          </p:cNvSpPr>
          <p:nvPr/>
        </p:nvSpPr>
        <p:spPr>
          <a:xfrm>
            <a:off x="3200400" y="4124325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A股每日行情复盘 2026.06.02</a:t>
            </a:r>
          </a:p>
        </p:txBody>
      </p:sp>
      <p:sp>
        <p:nvSpPr>
          <p:cNvPr id="33" name="url_3">
            <a:extLst>
              <a:ext uri="{FF2B5EF4-FFF2-40B4-BE49-F238E27FC236}">
                <a16:creationId xmlns:a16="http://schemas.microsoft.com/office/drawing/2014/main" id="{9D80580C-733C-4166-91B4-96691BE7DD51}"/>
              </a:ext>
            </a:extLst>
          </p:cNvPr>
          <p:cNvSpPr>
            <a:spLocks noGrp="1"/>
          </p:cNvSpPr>
          <p:nvPr/>
        </p:nvSpPr>
        <p:spPr>
          <a:xfrm>
            <a:off x="6877050" y="4124325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A9A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A9AA2"/>
                </a:solidFill>
                <a:latin typeface="Aptos"/>
                <a:ea typeface="Aptos"/>
                <a:cs typeface="Aptos"/>
              </a:rPr>
              <a:t>news.10jqka.com.cn/20260602/c677150643.shtml</a:t>
            </a:r>
          </a:p>
        </p:txBody>
      </p:sp>
      <p:sp>
        <p:nvSpPr>
          <p:cNvPr id="34" name="row_rule_4">
            <a:extLst>
              <a:ext uri="{FF2B5EF4-FFF2-40B4-BE49-F238E27FC236}">
                <a16:creationId xmlns:a16="http://schemas.microsoft.com/office/drawing/2014/main" id="{87F02FD1-B6A3-484F-872E-C1DE86328125}"/>
              </a:ext>
            </a:extLst>
          </p:cNvPr>
          <p:cNvSpPr>
            <a:spLocks noGrp="1"/>
          </p:cNvSpPr>
          <p:nvPr/>
        </p:nvSpPr>
        <p:spPr>
          <a:xfrm>
            <a:off x="1409700" y="4419600"/>
            <a:ext cx="9391650" cy="9525"/>
          </a:xfrm>
          <a:prstGeom prst="rect">
            <a:avLst/>
          </a:prstGeom>
          <a:solidFill>
            <a:srgbClr val="FFFFFF">
              <a:alpha val="627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rc_4">
            <a:extLst>
              <a:ext uri="{FF2B5EF4-FFF2-40B4-BE49-F238E27FC236}">
                <a16:creationId xmlns:a16="http://schemas.microsoft.com/office/drawing/2014/main" id="{EC60EB23-6BAE-4A0B-BFBF-CEA27E4AAAD4}"/>
              </a:ext>
            </a:extLst>
          </p:cNvPr>
          <p:cNvSpPr>
            <a:spLocks noGrp="1"/>
          </p:cNvSpPr>
          <p:nvPr/>
        </p:nvSpPr>
        <p:spPr>
          <a:xfrm>
            <a:off x="1409700" y="4533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7F7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7F7F8"/>
                </a:solidFill>
                <a:latin typeface="PingFang SC"/>
                <a:ea typeface="PingFang SC"/>
                <a:cs typeface="PingFang SC"/>
              </a:rPr>
              <a:t>东方财富</a:t>
            </a:r>
          </a:p>
        </p:txBody>
      </p:sp>
      <p:sp>
        <p:nvSpPr>
          <p:cNvPr id="36" name="item_4">
            <a:extLst>
              <a:ext uri="{FF2B5EF4-FFF2-40B4-BE49-F238E27FC236}">
                <a16:creationId xmlns:a16="http://schemas.microsoft.com/office/drawing/2014/main" id="{BD62CF45-942F-473E-9EC7-5D67C53C98B5}"/>
              </a:ext>
            </a:extLst>
          </p:cNvPr>
          <p:cNvSpPr>
            <a:spLocks noGrp="1"/>
          </p:cNvSpPr>
          <p:nvPr/>
        </p:nvSpPr>
        <p:spPr>
          <a:xfrm>
            <a:off x="3200400" y="453390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DEDF0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DEDF0"/>
                </a:solidFill>
                <a:latin typeface="PingFang SC"/>
                <a:ea typeface="PingFang SC"/>
                <a:cs typeface="PingFang SC"/>
              </a:rPr>
              <a:t>上证指数公开K线接口</a:t>
            </a:r>
          </a:p>
        </p:txBody>
      </p:sp>
      <p:sp>
        <p:nvSpPr>
          <p:cNvPr id="37" name="url_4">
            <a:extLst>
              <a:ext uri="{FF2B5EF4-FFF2-40B4-BE49-F238E27FC236}">
                <a16:creationId xmlns:a16="http://schemas.microsoft.com/office/drawing/2014/main" id="{3FC15DF9-1045-40C2-B31E-ADBDF34033DD}"/>
              </a:ext>
            </a:extLst>
          </p:cNvPr>
          <p:cNvSpPr>
            <a:spLocks noGrp="1"/>
          </p:cNvSpPr>
          <p:nvPr/>
        </p:nvSpPr>
        <p:spPr>
          <a:xfrm>
            <a:off x="6877050" y="453390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9A9A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A9AA2"/>
                </a:solidFill>
                <a:latin typeface="Aptos"/>
                <a:ea typeface="Aptos"/>
                <a:cs typeface="Aptos"/>
              </a:rPr>
              <a:t>push2his.eastmoney.com / 1.000001</a:t>
            </a:r>
          </a:p>
        </p:txBody>
      </p:sp>
      <p:sp>
        <p:nvSpPr>
          <p:cNvPr id="38" name="method">
            <a:extLst>
              <a:ext uri="{FF2B5EF4-FFF2-40B4-BE49-F238E27FC236}">
                <a16:creationId xmlns:a16="http://schemas.microsoft.com/office/drawing/2014/main" id="{CF48E7E8-DE69-4797-AD8D-F206AB8712CF}"/>
              </a:ext>
            </a:extLst>
          </p:cNvPr>
          <p:cNvSpPr>
            <a:spLocks noGrp="1"/>
          </p:cNvSpPr>
          <p:nvPr/>
        </p:nvSpPr>
        <p:spPr>
          <a:xfrm>
            <a:off x="1409700" y="5562600"/>
            <a:ext cx="904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计算口径：近5个交易日涨跌幅 = 2026.06.09收盘 / 2026.06.02收盘 - 1。行业成交额单位按同花顺页面展示四舍五入。</a:t>
            </a:r>
          </a:p>
        </p:txBody>
      </p:sp>
      <p:sp>
        <p:nvSpPr>
          <p:cNvPr id="39" name="footer_rule">
            <a:extLst>
              <a:ext uri="{FF2B5EF4-FFF2-40B4-BE49-F238E27FC236}">
                <a16:creationId xmlns:a16="http://schemas.microsoft.com/office/drawing/2014/main" id="{4EE5E6DD-6616-445E-8490-9892D94AC875}"/>
              </a:ext>
            </a:extLst>
          </p:cNvPr>
          <p:cNvSpPr>
            <a:spLocks noGrp="1"/>
          </p:cNvSpPr>
          <p:nvPr/>
        </p:nvSpPr>
        <p:spPr>
          <a:xfrm>
            <a:off x="914400" y="6229350"/>
            <a:ext cx="10363200" cy="11430"/>
          </a:xfrm>
          <a:prstGeom prst="rect">
            <a:avLst/>
          </a:prstGeom>
          <a:solidFill>
            <a:srgbClr val="FFFFFF">
              <a:alpha val="941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footer_source">
            <a:extLst>
              <a:ext uri="{FF2B5EF4-FFF2-40B4-BE49-F238E27FC236}">
                <a16:creationId xmlns:a16="http://schemas.microsoft.com/office/drawing/2014/main" id="{49B27296-2911-4C1D-9FA5-FDA2304B9DDC}"/>
              </a:ext>
            </a:extLst>
          </p:cNvPr>
          <p:cNvSpPr>
            <a:spLocks noGrp="1"/>
          </p:cNvSpPr>
          <p:nvPr/>
        </p:nvSpPr>
        <p:spPr>
          <a:xfrm>
            <a:off x="914400" y="636270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截至 2026.06.09 收盘；仅供市场复盘和视频展示使用</a:t>
            </a:r>
          </a:p>
        </p:txBody>
      </p:sp>
      <p:sp>
        <p:nvSpPr>
          <p:cNvPr id="41" name="as_of">
            <a:extLst>
              <a:ext uri="{FF2B5EF4-FFF2-40B4-BE49-F238E27FC236}">
                <a16:creationId xmlns:a16="http://schemas.microsoft.com/office/drawing/2014/main" id="{903BBE8A-F2EA-469F-A45B-BB7AA32B83C8}"/>
              </a:ext>
            </a:extLst>
          </p:cNvPr>
          <p:cNvSpPr>
            <a:spLocks noGrp="1"/>
          </p:cNvSpPr>
          <p:nvPr/>
        </p:nvSpPr>
        <p:spPr>
          <a:xfrm>
            <a:off x="9810750" y="6362700"/>
            <a:ext cx="1466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9A9AA2"/>
                </a:solidFill>
                <a:latin typeface="PingFang SC"/>
                <a:ea typeface="PingFang SC"/>
                <a:cs typeface="PingFang SC"/>
              </a:rPr>
              <a:t>2026.06.09 收盘</a:t>
            </a:r>
          </a:p>
        </p:txBody>
      </p:sp>
    </p:spTree>
    <p:extLst>
      <p:ext uri="{BB962C8B-B14F-4D97-AF65-F5344CB8AC3E}">
        <p14:creationId xmlns:p14="http://schemas.microsoft.com/office/powerpoint/2010/main" val="1171049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6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</Words>
  <Application>Microsoft Macintosh PowerPoint</Application>
  <DocSecurity>0</DocSecurity>
  <PresentationFormat>宽屏</PresentationFormat>
  <Paragraphs>183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PingFang SC</vt:lpstr>
      <vt:lpstr>Aptos</vt:lpstr>
      <vt:lpstr>Aptos Display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Song Xiaoxu</cp:lastModifiedBy>
  <cp:revision>1</cp:revision>
  <dcterms:created xsi:type="dcterms:W3CDTF">2026-06-09T15:02:02Z</dcterms:created>
  <dcterms:modified xsi:type="dcterms:W3CDTF">2026-08-08T06:20:20Z</dcterms:modified>
</cp:coreProperties>
</file>